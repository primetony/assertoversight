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6" r:id="rId5"/>
    <p:sldId id="267" r:id="rId6"/>
    <p:sldId id="268" r:id="rId7"/>
    <p:sldId id="269" r:id="rId8"/>
    <p:sldId id="258" r:id="rId9"/>
    <p:sldId id="259" r:id="rId10"/>
    <p:sldId id="272" r:id="rId11"/>
    <p:sldId id="270" r:id="rId12"/>
    <p:sldId id="271"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46D259"/>
    <a:srgbClr val="FFFFFF"/>
    <a:srgbClr val="5FF573"/>
    <a:srgbClr val="2A7033"/>
    <a:srgbClr val="9EE8A8"/>
    <a:srgbClr val="55B562"/>
    <a:srgbClr val="0D0D0D"/>
    <a:srgbClr val="F5F5F5"/>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3" d="100"/>
          <a:sy n="63"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13.jpeg"/><Relationship Id="rId10" Type="http://schemas.openxmlformats.org/officeDocument/2006/relationships/image" Target="../media/image10.png"/><Relationship Id="rId4" Type="http://schemas.openxmlformats.org/officeDocument/2006/relationships/image" Target="../media/image12.jpe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2.jpeg"/><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13.jpeg"/><Relationship Id="rId15" Type="http://schemas.openxmlformats.org/officeDocument/2006/relationships/image" Target="../media/image17.sv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7.jpeg"/><Relationship Id="rId11" Type="http://schemas.openxmlformats.org/officeDocument/2006/relationships/image" Target="../media/image20.png"/><Relationship Id="rId5" Type="http://schemas.openxmlformats.org/officeDocument/2006/relationships/image" Target="../media/image13.jpeg"/><Relationship Id="rId10" Type="http://schemas.openxmlformats.org/officeDocument/2006/relationships/image" Target="../media/image11.png"/><Relationship Id="rId4" Type="http://schemas.openxmlformats.org/officeDocument/2006/relationships/image" Target="../media/image4.jpe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0" y="0"/>
            <a:ext cx="12223102"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4622583" y="2453497"/>
            <a:ext cx="2519155" cy="1312066"/>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0" dirty="0">
                <a:solidFill>
                  <a:schemeClr val="accent3">
                    <a:lumMod val="60000"/>
                    <a:lumOff val="40000"/>
                  </a:schemeClr>
                </a:solidFill>
                <a:latin typeface="Consolas"/>
              </a:rPr>
              <a:t>CAMS</a:t>
            </a:r>
          </a:p>
        </p:txBody>
      </p:sp>
      <p:pic>
        <p:nvPicPr>
          <p:cNvPr id="7" name="Picture 6" descr="A map of a city&#10;&#10;Description automatically generated">
            <a:extLst>
              <a:ext uri="{FF2B5EF4-FFF2-40B4-BE49-F238E27FC236}">
                <a16:creationId xmlns:a16="http://schemas.microsoft.com/office/drawing/2014/main" id="{D8ADEB7E-902A-3F6F-75C3-C57441B4C5DE}"/>
              </a:ext>
            </a:extLst>
          </p:cNvPr>
          <p:cNvPicPr>
            <a:picLocks noChangeAspect="1"/>
          </p:cNvPicPr>
          <p:nvPr/>
        </p:nvPicPr>
        <p:blipFill>
          <a:blip r:embed="rId2">
            <a:alphaModFix amt="13000"/>
          </a:blip>
          <a:stretch>
            <a:fillRect/>
          </a:stretch>
        </p:blipFill>
        <p:spPr>
          <a:xfrm>
            <a:off x="-568515" y="-3867"/>
            <a:ext cx="15007524" cy="6865732"/>
          </a:xfrm>
          <a:prstGeom prst="rect">
            <a:avLst/>
          </a:prstGeom>
        </p:spPr>
      </p:pic>
      <p:sp>
        <p:nvSpPr>
          <p:cNvPr id="8" name="TextBox 7">
            <a:extLst>
              <a:ext uri="{FF2B5EF4-FFF2-40B4-BE49-F238E27FC236}">
                <a16:creationId xmlns:a16="http://schemas.microsoft.com/office/drawing/2014/main" id="{14FC2245-E4BF-5A2B-7AD3-7AEAE94BAA2E}"/>
              </a:ext>
            </a:extLst>
          </p:cNvPr>
          <p:cNvSpPr txBox="1"/>
          <p:nvPr/>
        </p:nvSpPr>
        <p:spPr>
          <a:xfrm>
            <a:off x="6765854" y="2220080"/>
            <a:ext cx="265620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0" dirty="0">
                <a:solidFill>
                  <a:schemeClr val="accent3">
                    <a:lumMod val="60000"/>
                    <a:lumOff val="40000"/>
                  </a:schemeClr>
                </a:solidFill>
                <a:ea typeface="+mn-lt"/>
                <a:cs typeface="+mn-lt"/>
              </a:rPr>
              <a:t>®</a:t>
            </a:r>
            <a:endParaRPr lang="en-US" sz="6000" dirty="0">
              <a:solidFill>
                <a:schemeClr val="accent3">
                  <a:lumMod val="60000"/>
                  <a:lumOff val="40000"/>
                </a:schemeClr>
              </a:solidFill>
            </a:endParaRPr>
          </a:p>
        </p:txBody>
      </p:sp>
      <p:sp>
        <p:nvSpPr>
          <p:cNvPr id="5" name="TextBox 4">
            <a:extLst>
              <a:ext uri="{FF2B5EF4-FFF2-40B4-BE49-F238E27FC236}">
                <a16:creationId xmlns:a16="http://schemas.microsoft.com/office/drawing/2014/main" id="{07A795E3-FD3D-FC4C-D82D-B4A302CB2E05}"/>
              </a:ext>
            </a:extLst>
          </p:cNvPr>
          <p:cNvSpPr txBox="1"/>
          <p:nvPr/>
        </p:nvSpPr>
        <p:spPr>
          <a:xfrm>
            <a:off x="11048999" y="-547687"/>
            <a:ext cx="5119687" cy="9525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0" y="0"/>
            <a:ext cx="12223102"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4622583" y="2453497"/>
            <a:ext cx="2519155" cy="1312066"/>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0" dirty="0">
                <a:solidFill>
                  <a:schemeClr val="accent3">
                    <a:lumMod val="60000"/>
                    <a:lumOff val="40000"/>
                  </a:schemeClr>
                </a:solidFill>
                <a:latin typeface="Consolas"/>
              </a:rPr>
              <a:t>CAMS</a:t>
            </a:r>
          </a:p>
        </p:txBody>
      </p:sp>
      <p:pic>
        <p:nvPicPr>
          <p:cNvPr id="7" name="Picture 6" descr="A map of a city&#10;&#10;Description automatically generated">
            <a:extLst>
              <a:ext uri="{FF2B5EF4-FFF2-40B4-BE49-F238E27FC236}">
                <a16:creationId xmlns:a16="http://schemas.microsoft.com/office/drawing/2014/main" id="{D8ADEB7E-902A-3F6F-75C3-C57441B4C5DE}"/>
              </a:ext>
            </a:extLst>
          </p:cNvPr>
          <p:cNvPicPr>
            <a:picLocks noChangeAspect="1"/>
          </p:cNvPicPr>
          <p:nvPr/>
        </p:nvPicPr>
        <p:blipFill>
          <a:blip r:embed="rId2">
            <a:alphaModFix amt="0"/>
          </a:blip>
          <a:stretch>
            <a:fillRect/>
          </a:stretch>
        </p:blipFill>
        <p:spPr>
          <a:xfrm>
            <a:off x="-2490575" y="-3867"/>
            <a:ext cx="15007524" cy="6865732"/>
          </a:xfrm>
          <a:prstGeom prst="rect">
            <a:avLst/>
          </a:prstGeom>
        </p:spPr>
      </p:pic>
      <p:sp>
        <p:nvSpPr>
          <p:cNvPr id="8" name="TextBox 7">
            <a:extLst>
              <a:ext uri="{FF2B5EF4-FFF2-40B4-BE49-F238E27FC236}">
                <a16:creationId xmlns:a16="http://schemas.microsoft.com/office/drawing/2014/main" id="{14FC2245-E4BF-5A2B-7AD3-7AEAE94BAA2E}"/>
              </a:ext>
            </a:extLst>
          </p:cNvPr>
          <p:cNvSpPr txBox="1"/>
          <p:nvPr/>
        </p:nvSpPr>
        <p:spPr>
          <a:xfrm>
            <a:off x="6765854" y="2220080"/>
            <a:ext cx="265620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0" dirty="0">
                <a:solidFill>
                  <a:schemeClr val="accent3">
                    <a:lumMod val="60000"/>
                    <a:lumOff val="40000"/>
                  </a:schemeClr>
                </a:solidFill>
                <a:ea typeface="+mn-lt"/>
                <a:cs typeface="+mn-lt"/>
              </a:rPr>
              <a:t>®</a:t>
            </a:r>
            <a:endParaRPr lang="en-US" sz="6000" dirty="0">
              <a:solidFill>
                <a:schemeClr val="accent3">
                  <a:lumMod val="60000"/>
                  <a:lumOff val="40000"/>
                </a:schemeClr>
              </a:solidFill>
            </a:endParaRPr>
          </a:p>
        </p:txBody>
      </p:sp>
      <p:sp>
        <p:nvSpPr>
          <p:cNvPr id="2" name="TextBox 1">
            <a:extLst>
              <a:ext uri="{FF2B5EF4-FFF2-40B4-BE49-F238E27FC236}">
                <a16:creationId xmlns:a16="http://schemas.microsoft.com/office/drawing/2014/main" id="{C71CFDCA-93BD-6964-B098-61BB7DBAA700}"/>
              </a:ext>
            </a:extLst>
          </p:cNvPr>
          <p:cNvSpPr txBox="1"/>
          <p:nvPr/>
        </p:nvSpPr>
        <p:spPr>
          <a:xfrm>
            <a:off x="4218877" y="3578377"/>
            <a:ext cx="40385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6D259"/>
                </a:solidFill>
              </a:rPr>
              <a:t>Central asserts monitoring system</a:t>
            </a:r>
          </a:p>
        </p:txBody>
      </p:sp>
      <p:sp>
        <p:nvSpPr>
          <p:cNvPr id="3" name="Rectangle: Rounded Corners 2">
            <a:extLst>
              <a:ext uri="{FF2B5EF4-FFF2-40B4-BE49-F238E27FC236}">
                <a16:creationId xmlns:a16="http://schemas.microsoft.com/office/drawing/2014/main" id="{5B2ED747-6031-3311-8E1F-8758B99EE30D}"/>
              </a:ext>
            </a:extLst>
          </p:cNvPr>
          <p:cNvSpPr/>
          <p:nvPr/>
        </p:nvSpPr>
        <p:spPr>
          <a:xfrm>
            <a:off x="5873955" y="-4414683"/>
            <a:ext cx="2540000" cy="37592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 name="Rectangle: Rounded Corners 4">
            <a:extLst>
              <a:ext uri="{FF2B5EF4-FFF2-40B4-BE49-F238E27FC236}">
                <a16:creationId xmlns:a16="http://schemas.microsoft.com/office/drawing/2014/main" id="{498853ED-4675-3A40-392A-CDFAB972D289}"/>
              </a:ext>
            </a:extLst>
          </p:cNvPr>
          <p:cNvSpPr/>
          <p:nvPr/>
        </p:nvSpPr>
        <p:spPr>
          <a:xfrm>
            <a:off x="8995696" y="-4414683"/>
            <a:ext cx="2540000" cy="37592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 name="Rectangle: Rounded Corners 8">
            <a:extLst>
              <a:ext uri="{FF2B5EF4-FFF2-40B4-BE49-F238E27FC236}">
                <a16:creationId xmlns:a16="http://schemas.microsoft.com/office/drawing/2014/main" id="{050D5FF3-845D-8791-0CF3-79C4D0062C56}"/>
              </a:ext>
            </a:extLst>
          </p:cNvPr>
          <p:cNvSpPr/>
          <p:nvPr/>
        </p:nvSpPr>
        <p:spPr>
          <a:xfrm>
            <a:off x="12338664" y="-4414683"/>
            <a:ext cx="2540000" cy="37592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4" name="TextBox 13">
            <a:extLst>
              <a:ext uri="{FF2B5EF4-FFF2-40B4-BE49-F238E27FC236}">
                <a16:creationId xmlns:a16="http://schemas.microsoft.com/office/drawing/2014/main" id="{26CFCDCC-F590-850E-BCC1-53BFB6F83FD7}"/>
              </a:ext>
            </a:extLst>
          </p:cNvPr>
          <p:cNvSpPr txBox="1"/>
          <p:nvPr/>
        </p:nvSpPr>
        <p:spPr>
          <a:xfrm>
            <a:off x="484413" y="-2147670"/>
            <a:ext cx="3010767" cy="954107"/>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Car safety in your own hands</a:t>
            </a:r>
          </a:p>
        </p:txBody>
      </p:sp>
    </p:spTree>
    <p:extLst>
      <p:ext uri="{BB962C8B-B14F-4D97-AF65-F5344CB8AC3E}">
        <p14:creationId xmlns:p14="http://schemas.microsoft.com/office/powerpoint/2010/main" val="1784887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7F4205-924B-0F14-A959-A673AFBEE2C0}"/>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218646" y="1350181"/>
            <a:ext cx="1105329" cy="1001782"/>
          </a:xfrm>
          <a:prstGeom prst="ellipse">
            <a:avLst/>
          </a:prstGeom>
        </p:spPr>
      </p:pic>
      <p:pic>
        <p:nvPicPr>
          <p:cNvPr id="7" name="Picture 6">
            <a:extLst>
              <a:ext uri="{FF2B5EF4-FFF2-40B4-BE49-F238E27FC236}">
                <a16:creationId xmlns:a16="http://schemas.microsoft.com/office/drawing/2014/main" id="{20B2A5CD-D31F-D74D-6D3F-5CCCC9486832}"/>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218646" y="2560231"/>
            <a:ext cx="1105329" cy="1001782"/>
          </a:xfrm>
          <a:prstGeom prst="ellipse">
            <a:avLst/>
          </a:prstGeom>
        </p:spPr>
      </p:pic>
      <p:pic>
        <p:nvPicPr>
          <p:cNvPr id="9" name="Picture 8" descr="A person in a white shirt&#10;&#10;Description automatically generated">
            <a:extLst>
              <a:ext uri="{FF2B5EF4-FFF2-40B4-BE49-F238E27FC236}">
                <a16:creationId xmlns:a16="http://schemas.microsoft.com/office/drawing/2014/main" id="{D3EB2952-AA61-5F18-4481-389B9274B213}"/>
              </a:ext>
            </a:extLst>
          </p:cNvPr>
          <p:cNvPicPr>
            <a:picLocks noChangeAspect="1"/>
          </p:cNvPicPr>
          <p:nvPr/>
        </p:nvPicPr>
        <p:blipFill>
          <a:blip r:embed="rId4" cstate="print">
            <a:extLst>
              <a:ext uri="{28A0092B-C50C-407E-A947-70E740481C1C}">
                <a14:useLocalDpi xmlns:a14="http://schemas.microsoft.com/office/drawing/2010/main" val="0"/>
              </a:ext>
            </a:extLst>
          </a:blip>
          <a:srcRect r="30959" b="18310"/>
          <a:stretch/>
        </p:blipFill>
        <p:spPr>
          <a:xfrm>
            <a:off x="236117" y="3770281"/>
            <a:ext cx="1090749" cy="988568"/>
          </a:xfrm>
          <a:prstGeom prst="ellipse">
            <a:avLst/>
          </a:prstGeom>
        </p:spPr>
      </p:pic>
      <p:pic>
        <p:nvPicPr>
          <p:cNvPr id="13" name="Picture 12" descr="A person in a white shirt&#10;&#10;Description automatically generated">
            <a:extLst>
              <a:ext uri="{FF2B5EF4-FFF2-40B4-BE49-F238E27FC236}">
                <a16:creationId xmlns:a16="http://schemas.microsoft.com/office/drawing/2014/main" id="{0FC74D8A-D96D-78F2-5875-B7762520ACEB}"/>
              </a:ext>
            </a:extLst>
          </p:cNvPr>
          <p:cNvPicPr>
            <a:picLocks noChangeAspect="1"/>
          </p:cNvPicPr>
          <p:nvPr/>
        </p:nvPicPr>
        <p:blipFill>
          <a:blip r:embed="rId5" cstate="print">
            <a:extLst>
              <a:ext uri="{28A0092B-C50C-407E-A947-70E740481C1C}">
                <a14:useLocalDpi xmlns:a14="http://schemas.microsoft.com/office/drawing/2010/main" val="0"/>
              </a:ext>
            </a:extLst>
          </a:blip>
          <a:srcRect r="30959" b="18310"/>
          <a:stretch/>
        </p:blipFill>
        <p:spPr>
          <a:xfrm>
            <a:off x="236117" y="4967117"/>
            <a:ext cx="1087858" cy="985948"/>
          </a:xfrm>
          <a:prstGeom prst="ellipse">
            <a:avLst/>
          </a:prstGeom>
        </p:spPr>
      </p:pic>
      <p:sp>
        <p:nvSpPr>
          <p:cNvPr id="16" name="TextBox 15">
            <a:extLst>
              <a:ext uri="{FF2B5EF4-FFF2-40B4-BE49-F238E27FC236}">
                <a16:creationId xmlns:a16="http://schemas.microsoft.com/office/drawing/2014/main" id="{CC7C1A16-50F3-FDF4-7E75-7DC7EFFDCE77}"/>
              </a:ext>
            </a:extLst>
          </p:cNvPr>
          <p:cNvSpPr txBox="1"/>
          <p:nvPr/>
        </p:nvSpPr>
        <p:spPr>
          <a:xfrm>
            <a:off x="1602105" y="1338885"/>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F6B234E2-51F8-0202-1229-42ABC1CEDBC3}"/>
              </a:ext>
            </a:extLst>
          </p:cNvPr>
          <p:cNvSpPr txBox="1"/>
          <p:nvPr/>
        </p:nvSpPr>
        <p:spPr>
          <a:xfrm>
            <a:off x="1602105" y="181184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8" name="TextBox 17">
            <a:extLst>
              <a:ext uri="{FF2B5EF4-FFF2-40B4-BE49-F238E27FC236}">
                <a16:creationId xmlns:a16="http://schemas.microsoft.com/office/drawing/2014/main" id="{C84E19C6-C733-2237-1091-16B2118AA63C}"/>
              </a:ext>
            </a:extLst>
          </p:cNvPr>
          <p:cNvSpPr txBox="1"/>
          <p:nvPr/>
        </p:nvSpPr>
        <p:spPr>
          <a:xfrm>
            <a:off x="1602105" y="255051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a:t>
            </a:r>
            <a:r>
              <a:rPr lang="en-ZA" sz="2400" dirty="0" err="1">
                <a:effectLst/>
                <a:latin typeface="Calibri" panose="020F0502020204030204" pitchFamily="34" charset="0"/>
                <a:ea typeface="Calibri" panose="020F0502020204030204" pitchFamily="34" charset="0"/>
                <a:cs typeface="Times New Roman" panose="02020603050405020304" pitchFamily="18" charset="0"/>
              </a:rPr>
              <a:t>Sityi</a:t>
            </a:r>
            <a:endParaRPr lang="en-US" dirty="0"/>
          </a:p>
        </p:txBody>
      </p:sp>
      <p:sp>
        <p:nvSpPr>
          <p:cNvPr id="19" name="TextBox 18">
            <a:extLst>
              <a:ext uri="{FF2B5EF4-FFF2-40B4-BE49-F238E27FC236}">
                <a16:creationId xmlns:a16="http://schemas.microsoft.com/office/drawing/2014/main" id="{4F1A3F2E-EBFD-5B67-0056-194D000ABD65}"/>
              </a:ext>
            </a:extLst>
          </p:cNvPr>
          <p:cNvSpPr txBox="1"/>
          <p:nvPr/>
        </p:nvSpPr>
        <p:spPr>
          <a:xfrm>
            <a:off x="1602105" y="301217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0" name="TextBox 19">
            <a:extLst>
              <a:ext uri="{FF2B5EF4-FFF2-40B4-BE49-F238E27FC236}">
                <a16:creationId xmlns:a16="http://schemas.microsoft.com/office/drawing/2014/main" id="{26C6A91A-9485-D1A9-E064-B21F6397927B}"/>
              </a:ext>
            </a:extLst>
          </p:cNvPr>
          <p:cNvSpPr txBox="1"/>
          <p:nvPr/>
        </p:nvSpPr>
        <p:spPr>
          <a:xfrm>
            <a:off x="1602105" y="3750839"/>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21" name="TextBox 20">
            <a:extLst>
              <a:ext uri="{FF2B5EF4-FFF2-40B4-BE49-F238E27FC236}">
                <a16:creationId xmlns:a16="http://schemas.microsoft.com/office/drawing/2014/main" id="{CF23AEDD-8AE3-C98F-78C9-BD777ED94E61}"/>
              </a:ext>
            </a:extLst>
          </p:cNvPr>
          <p:cNvSpPr txBox="1"/>
          <p:nvPr/>
        </p:nvSpPr>
        <p:spPr>
          <a:xfrm>
            <a:off x="1602105" y="4212504"/>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2" name="TextBox 21">
            <a:extLst>
              <a:ext uri="{FF2B5EF4-FFF2-40B4-BE49-F238E27FC236}">
                <a16:creationId xmlns:a16="http://schemas.microsoft.com/office/drawing/2014/main" id="{9FB1BC02-92EB-2B9F-20D2-7F2B81B7F4DD}"/>
              </a:ext>
            </a:extLst>
          </p:cNvPr>
          <p:cNvSpPr txBox="1"/>
          <p:nvPr/>
        </p:nvSpPr>
        <p:spPr>
          <a:xfrm>
            <a:off x="1602105" y="4951168"/>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23" name="TextBox 22">
            <a:extLst>
              <a:ext uri="{FF2B5EF4-FFF2-40B4-BE49-F238E27FC236}">
                <a16:creationId xmlns:a16="http://schemas.microsoft.com/office/drawing/2014/main" id="{CB706224-29D9-ECF3-0197-04243588C86B}"/>
              </a:ext>
            </a:extLst>
          </p:cNvPr>
          <p:cNvSpPr txBox="1"/>
          <p:nvPr/>
        </p:nvSpPr>
        <p:spPr>
          <a:xfrm>
            <a:off x="1602105" y="5412833"/>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grpSp>
        <p:nvGrpSpPr>
          <p:cNvPr id="117" name="Group 116">
            <a:extLst>
              <a:ext uri="{FF2B5EF4-FFF2-40B4-BE49-F238E27FC236}">
                <a16:creationId xmlns:a16="http://schemas.microsoft.com/office/drawing/2014/main" id="{EB32F203-CACA-F389-6C40-3CC3551A3159}"/>
              </a:ext>
            </a:extLst>
          </p:cNvPr>
          <p:cNvGrpSpPr/>
          <p:nvPr/>
        </p:nvGrpSpPr>
        <p:grpSpPr>
          <a:xfrm>
            <a:off x="-1490303" y="-5142619"/>
            <a:ext cx="6843080" cy="21110904"/>
            <a:chOff x="-1549230" y="-5173191"/>
            <a:chExt cx="6843080" cy="21110904"/>
          </a:xfrm>
        </p:grpSpPr>
        <p:sp>
          <p:nvSpPr>
            <p:cNvPr id="116" name="Freeform: Shape 115">
              <a:extLst>
                <a:ext uri="{FF2B5EF4-FFF2-40B4-BE49-F238E27FC236}">
                  <a16:creationId xmlns:a16="http://schemas.microsoft.com/office/drawing/2014/main" id="{AD822BDB-2538-4D12-68CE-FBEC5E4BF819}"/>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BB42C665-C236-E07E-526D-C9155CBD67D9}"/>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170DA5EE-16A7-67A6-A9F5-D69663398FB1}"/>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C46899DB-8495-31AD-D0E1-E5DA795D42B8}"/>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E548B82-4BF1-7995-FB24-DF4720C45232}"/>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5CC5FBE-6504-D68C-37F5-0528365ABFC1}"/>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9BCC196-91BE-A6E0-8547-FD9D7707F41A}"/>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0988562-1E3B-6ED5-7933-7A08E117B374}"/>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310875DC-4C04-3D0F-0919-A7FE5BF24EA2}"/>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3AB984B2-E047-1D52-9D5B-6BB8F4235B8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1BB0944-09EC-3706-8682-2250C89E9233}"/>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474DA1A4-6E12-DC94-BDC8-04C6B679C498}"/>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A8E6EBF0-AA5B-E9CD-495C-92155E709A47}"/>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75122D-9114-C711-8651-9AC2A450F43C}"/>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E847CFA-DF97-65A7-E61A-099E93499ED4}"/>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D937E43B-E532-DE74-5031-1881845BAEE2}"/>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D2CC8F3-6BDD-B364-192C-6946C52E74F4}"/>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F19E2D14-F404-058D-EBC1-3CE8AB09BCD8}"/>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1EC27456-5030-A2DA-CA62-713BC945A383}"/>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39F3B7A-39FD-C26E-3F8C-6A8B0EBC0D97}"/>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56270C93-6D58-B25C-CFBD-BCC54A261AD1}"/>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FC90350-155B-49BE-40B5-1C4199F300F3}"/>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44753B1-36E9-9CB4-58C5-81BD30EB392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BC031C03-451F-F9EF-B038-1C1D8A005D63}"/>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EA657875-DE63-F2F8-CF03-F6D543396EE1}"/>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3983985-E5C3-B45B-EF8C-78BF56AC824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0CFA42EE-36E8-BBA4-E5C1-F250B7AB8D85}"/>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5D20B6CD-0A13-3C7C-C90D-2EA88FD065EE}"/>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88395509-6DF4-A872-7195-68D9BE99F09C}"/>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Rounded Corners 109">
              <a:extLst>
                <a:ext uri="{FF2B5EF4-FFF2-40B4-BE49-F238E27FC236}">
                  <a16:creationId xmlns:a16="http://schemas.microsoft.com/office/drawing/2014/main" id="{496B6289-0458-DD98-B1DC-F2263E2BB937}"/>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26BD83D-77F0-E6CF-CEBE-1FC75004269D}"/>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97098E6E-AA71-C5FF-68B6-B90EB9C86F5A}"/>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C061659-087E-7E2F-7341-409A903C466C}"/>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20E33033-C464-1872-CAE7-EEE3CCEA5B6A}"/>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
        <p:nvSpPr>
          <p:cNvPr id="8" name="Oval 7">
            <a:extLst>
              <a:ext uri="{FF2B5EF4-FFF2-40B4-BE49-F238E27FC236}">
                <a16:creationId xmlns:a16="http://schemas.microsoft.com/office/drawing/2014/main" id="{F236F180-32D6-7E81-5E72-CEAC974CE481}"/>
              </a:ext>
            </a:extLst>
          </p:cNvPr>
          <p:cNvSpPr/>
          <p:nvPr/>
        </p:nvSpPr>
        <p:spPr>
          <a:xfrm>
            <a:off x="5642796" y="-2792926"/>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ack box with wires connected to it&#10;&#10;Description automatically generated">
            <a:extLst>
              <a:ext uri="{FF2B5EF4-FFF2-40B4-BE49-F238E27FC236}">
                <a16:creationId xmlns:a16="http://schemas.microsoft.com/office/drawing/2014/main" id="{78B6E365-C0F6-FB69-E83A-C85753FE6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71335" y="2128326"/>
            <a:ext cx="5712172" cy="5712172"/>
          </a:xfrm>
          <a:prstGeom prst="rect">
            <a:avLst/>
          </a:prstGeom>
        </p:spPr>
      </p:pic>
      <p:pic>
        <p:nvPicPr>
          <p:cNvPr id="4" name="Picture 3" descr="A person in a white shirt&#10;&#10;Description automatically generated">
            <a:extLst>
              <a:ext uri="{FF2B5EF4-FFF2-40B4-BE49-F238E27FC236}">
                <a16:creationId xmlns:a16="http://schemas.microsoft.com/office/drawing/2014/main" id="{008B600D-E80F-C73F-7F8B-523CFB5F7835}"/>
              </a:ext>
            </a:extLst>
          </p:cNvPr>
          <p:cNvPicPr>
            <a:picLocks noChangeAspect="1"/>
          </p:cNvPicPr>
          <p:nvPr/>
        </p:nvPicPr>
        <p:blipFill>
          <a:blip r:embed="rId7" cstate="print">
            <a:extLst>
              <a:ext uri="{28A0092B-C50C-407E-A947-70E740481C1C}">
                <a14:useLocalDpi xmlns:a14="http://schemas.microsoft.com/office/drawing/2010/main" val="0"/>
              </a:ext>
            </a:extLst>
          </a:blip>
          <a:srcRect r="30959" b="18310"/>
          <a:stretch/>
        </p:blipFill>
        <p:spPr>
          <a:xfrm>
            <a:off x="254289" y="139700"/>
            <a:ext cx="1188463" cy="1128196"/>
          </a:xfrm>
          <a:prstGeom prst="ellipse">
            <a:avLst/>
          </a:prstGeom>
          <a:ln w="28575">
            <a:solidFill>
              <a:schemeClr val="accent6">
                <a:lumMod val="75000"/>
              </a:schemeClr>
            </a:solidFill>
          </a:ln>
        </p:spPr>
      </p:pic>
      <p:sp>
        <p:nvSpPr>
          <p:cNvPr id="14" name="TextBox 13">
            <a:extLst>
              <a:ext uri="{FF2B5EF4-FFF2-40B4-BE49-F238E27FC236}">
                <a16:creationId xmlns:a16="http://schemas.microsoft.com/office/drawing/2014/main" id="{53C059B6-F6A7-B921-0814-C3B3D35F5EAE}"/>
              </a:ext>
            </a:extLst>
          </p:cNvPr>
          <p:cNvSpPr txBox="1"/>
          <p:nvPr/>
        </p:nvSpPr>
        <p:spPr>
          <a:xfrm>
            <a:off x="1602105" y="13970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15" name="TextBox 14">
            <a:extLst>
              <a:ext uri="{FF2B5EF4-FFF2-40B4-BE49-F238E27FC236}">
                <a16:creationId xmlns:a16="http://schemas.microsoft.com/office/drawing/2014/main" id="{4DDD4A9E-80B5-7F13-741C-F1E5FF5F542E}"/>
              </a:ext>
            </a:extLst>
          </p:cNvPr>
          <p:cNvSpPr txBox="1"/>
          <p:nvPr/>
        </p:nvSpPr>
        <p:spPr>
          <a:xfrm>
            <a:off x="1602105" y="60136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 Backend</a:t>
            </a:r>
          </a:p>
        </p:txBody>
      </p:sp>
      <p:sp>
        <p:nvSpPr>
          <p:cNvPr id="118" name="TextBox 117">
            <a:extLst>
              <a:ext uri="{FF2B5EF4-FFF2-40B4-BE49-F238E27FC236}">
                <a16:creationId xmlns:a16="http://schemas.microsoft.com/office/drawing/2014/main" id="{F17F6C1A-D867-4217-0AF6-89EFF81D8B15}"/>
              </a:ext>
            </a:extLst>
          </p:cNvPr>
          <p:cNvSpPr txBox="1"/>
          <p:nvPr/>
        </p:nvSpPr>
        <p:spPr>
          <a:xfrm>
            <a:off x="6902245" y="265471"/>
            <a:ext cx="3687650" cy="523220"/>
          </a:xfrm>
          <a:prstGeom prst="rect">
            <a:avLst/>
          </a:prstGeom>
          <a:noFill/>
        </p:spPr>
        <p:txBody>
          <a:bodyPr wrap="square" rtlCol="0">
            <a:spAutoFit/>
          </a:bodyPr>
          <a:lstStyle/>
          <a:p>
            <a:r>
              <a:rPr lang="en-GB" sz="2800" dirty="0"/>
              <a:t>ROLES:</a:t>
            </a:r>
            <a:endParaRPr lang="en-US" sz="2800" dirty="0"/>
          </a:p>
        </p:txBody>
      </p:sp>
      <p:sp>
        <p:nvSpPr>
          <p:cNvPr id="119" name="TextBox 118">
            <a:extLst>
              <a:ext uri="{FF2B5EF4-FFF2-40B4-BE49-F238E27FC236}">
                <a16:creationId xmlns:a16="http://schemas.microsoft.com/office/drawing/2014/main" id="{B24CC4D2-AA37-7CCA-F7DB-56D0E7AAA791}"/>
              </a:ext>
            </a:extLst>
          </p:cNvPr>
          <p:cNvSpPr txBox="1"/>
          <p:nvPr/>
        </p:nvSpPr>
        <p:spPr>
          <a:xfrm>
            <a:off x="6902245" y="1267896"/>
            <a:ext cx="4994711" cy="3139321"/>
          </a:xfrm>
          <a:prstGeom prst="rect">
            <a:avLst/>
          </a:prstGeom>
          <a:noFill/>
        </p:spPr>
        <p:txBody>
          <a:bodyPr wrap="square" rtlCol="0">
            <a:spAutoFit/>
          </a:bodyPr>
          <a:lstStyle/>
          <a:p>
            <a:r>
              <a:rPr lang="en-GB" dirty="0"/>
              <a:t>Technical direction of the project making architectural decisions, and ensuring the solution aligns with project requirements.</a:t>
            </a:r>
          </a:p>
          <a:p>
            <a:endParaRPr lang="en-GB" dirty="0"/>
          </a:p>
          <a:p>
            <a:pPr lvl="0"/>
            <a:r>
              <a:rPr lang="en-GB" dirty="0"/>
              <a:t>Implement APIs that facilitate communication between the server and client, and external systems</a:t>
            </a:r>
          </a:p>
          <a:p>
            <a:pPr lvl="0"/>
            <a:endParaRPr lang="en-US" dirty="0"/>
          </a:p>
          <a:p>
            <a:pPr lvl="0"/>
            <a:r>
              <a:rPr lang="en-ZA" dirty="0"/>
              <a:t>Ensure the application is scalable and secure.</a:t>
            </a:r>
            <a:endParaRPr lang="en-US" dirty="0"/>
          </a:p>
          <a:p>
            <a:r>
              <a:rPr lang="en-ZA" dirty="0"/>
              <a:t>Integrate third-party services and APIs as needed.</a:t>
            </a:r>
            <a:endParaRPr lang="en-US" dirty="0"/>
          </a:p>
        </p:txBody>
      </p:sp>
      <p:pic>
        <p:nvPicPr>
          <p:cNvPr id="121" name="Picture 120" descr="A purple hexagon with a white letter c and a hashtag&#10;&#10;Description automatically generated">
            <a:extLst>
              <a:ext uri="{FF2B5EF4-FFF2-40B4-BE49-F238E27FC236}">
                <a16:creationId xmlns:a16="http://schemas.microsoft.com/office/drawing/2014/main" id="{AAD5A7B5-9593-4E13-AF2A-9FDA0D252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4696" y="5943163"/>
            <a:ext cx="904935" cy="904935"/>
          </a:xfrm>
          <a:prstGeom prst="rect">
            <a:avLst/>
          </a:prstGeom>
        </p:spPr>
      </p:pic>
      <p:pic>
        <p:nvPicPr>
          <p:cNvPr id="123" name="Picture 122">
            <a:extLst>
              <a:ext uri="{FF2B5EF4-FFF2-40B4-BE49-F238E27FC236}">
                <a16:creationId xmlns:a16="http://schemas.microsoft.com/office/drawing/2014/main" id="{4D1F11EB-2911-31BE-CE72-5837F0015A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57263" y="6106478"/>
            <a:ext cx="465874" cy="481403"/>
          </a:xfrm>
          <a:prstGeom prst="rect">
            <a:avLst/>
          </a:prstGeom>
        </p:spPr>
      </p:pic>
      <p:pic>
        <p:nvPicPr>
          <p:cNvPr id="125" name="Picture 124" descr="A logo of a coffee cup&#10;&#10;Description automatically generated">
            <a:extLst>
              <a:ext uri="{FF2B5EF4-FFF2-40B4-BE49-F238E27FC236}">
                <a16:creationId xmlns:a16="http://schemas.microsoft.com/office/drawing/2014/main" id="{AA570C7A-34F9-22B1-C692-A2177694DC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91397" y="6035278"/>
            <a:ext cx="603064" cy="603064"/>
          </a:xfrm>
          <a:prstGeom prst="rect">
            <a:avLst/>
          </a:prstGeom>
        </p:spPr>
      </p:pic>
      <p:pic>
        <p:nvPicPr>
          <p:cNvPr id="127" name="Picture 126" descr="A blue cylinder with black text&#10;&#10;Description automatically generated">
            <a:extLst>
              <a:ext uri="{FF2B5EF4-FFF2-40B4-BE49-F238E27FC236}">
                <a16:creationId xmlns:a16="http://schemas.microsoft.com/office/drawing/2014/main" id="{F2E68C27-E8C1-5E9D-54EF-C1227C62DF9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39342" y="6117492"/>
            <a:ext cx="603064" cy="603064"/>
          </a:xfrm>
          <a:prstGeom prst="rect">
            <a:avLst/>
          </a:prstGeom>
        </p:spPr>
      </p:pic>
    </p:spTree>
    <p:extLst>
      <p:ext uri="{BB962C8B-B14F-4D97-AF65-F5344CB8AC3E}">
        <p14:creationId xmlns:p14="http://schemas.microsoft.com/office/powerpoint/2010/main" val="3738919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7F4205-924B-0F14-A959-A673AFBEE2C0}"/>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218646" y="1350181"/>
            <a:ext cx="1105329" cy="1001782"/>
          </a:xfrm>
          <a:prstGeom prst="ellipse">
            <a:avLst/>
          </a:prstGeom>
        </p:spPr>
      </p:pic>
      <p:pic>
        <p:nvPicPr>
          <p:cNvPr id="7" name="Picture 6">
            <a:extLst>
              <a:ext uri="{FF2B5EF4-FFF2-40B4-BE49-F238E27FC236}">
                <a16:creationId xmlns:a16="http://schemas.microsoft.com/office/drawing/2014/main" id="{20B2A5CD-D31F-D74D-6D3F-5CCCC9486832}"/>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218646" y="2560231"/>
            <a:ext cx="1105329" cy="1001782"/>
          </a:xfrm>
          <a:prstGeom prst="ellipse">
            <a:avLst/>
          </a:prstGeom>
        </p:spPr>
      </p:pic>
      <p:pic>
        <p:nvPicPr>
          <p:cNvPr id="9" name="Picture 8" descr="A person in a white shirt&#10;&#10;Description automatically generated">
            <a:extLst>
              <a:ext uri="{FF2B5EF4-FFF2-40B4-BE49-F238E27FC236}">
                <a16:creationId xmlns:a16="http://schemas.microsoft.com/office/drawing/2014/main" id="{D3EB2952-AA61-5F18-4481-389B9274B213}"/>
              </a:ext>
            </a:extLst>
          </p:cNvPr>
          <p:cNvPicPr>
            <a:picLocks noChangeAspect="1"/>
          </p:cNvPicPr>
          <p:nvPr/>
        </p:nvPicPr>
        <p:blipFill>
          <a:blip r:embed="rId4" cstate="print">
            <a:extLst>
              <a:ext uri="{28A0092B-C50C-407E-A947-70E740481C1C}">
                <a14:useLocalDpi xmlns:a14="http://schemas.microsoft.com/office/drawing/2010/main" val="0"/>
              </a:ext>
            </a:extLst>
          </a:blip>
          <a:srcRect r="30959" b="18310"/>
          <a:stretch/>
        </p:blipFill>
        <p:spPr>
          <a:xfrm>
            <a:off x="236117" y="3770281"/>
            <a:ext cx="1090749" cy="988568"/>
          </a:xfrm>
          <a:prstGeom prst="ellipse">
            <a:avLst/>
          </a:prstGeom>
        </p:spPr>
      </p:pic>
      <p:pic>
        <p:nvPicPr>
          <p:cNvPr id="13" name="Picture 12" descr="A person in a white shirt&#10;&#10;Description automatically generated">
            <a:extLst>
              <a:ext uri="{FF2B5EF4-FFF2-40B4-BE49-F238E27FC236}">
                <a16:creationId xmlns:a16="http://schemas.microsoft.com/office/drawing/2014/main" id="{0FC74D8A-D96D-78F2-5875-B7762520ACEB}"/>
              </a:ext>
            </a:extLst>
          </p:cNvPr>
          <p:cNvPicPr>
            <a:picLocks noChangeAspect="1"/>
          </p:cNvPicPr>
          <p:nvPr/>
        </p:nvPicPr>
        <p:blipFill>
          <a:blip r:embed="rId5" cstate="print">
            <a:extLst>
              <a:ext uri="{28A0092B-C50C-407E-A947-70E740481C1C}">
                <a14:useLocalDpi xmlns:a14="http://schemas.microsoft.com/office/drawing/2010/main" val="0"/>
              </a:ext>
            </a:extLst>
          </a:blip>
          <a:srcRect r="30959" b="18310"/>
          <a:stretch/>
        </p:blipFill>
        <p:spPr>
          <a:xfrm>
            <a:off x="236117" y="4967117"/>
            <a:ext cx="1087858" cy="985948"/>
          </a:xfrm>
          <a:prstGeom prst="ellipse">
            <a:avLst/>
          </a:prstGeom>
        </p:spPr>
      </p:pic>
      <p:sp>
        <p:nvSpPr>
          <p:cNvPr id="16" name="TextBox 15">
            <a:extLst>
              <a:ext uri="{FF2B5EF4-FFF2-40B4-BE49-F238E27FC236}">
                <a16:creationId xmlns:a16="http://schemas.microsoft.com/office/drawing/2014/main" id="{CC7C1A16-50F3-FDF4-7E75-7DC7EFFDCE77}"/>
              </a:ext>
            </a:extLst>
          </p:cNvPr>
          <p:cNvSpPr txBox="1"/>
          <p:nvPr/>
        </p:nvSpPr>
        <p:spPr>
          <a:xfrm>
            <a:off x="1602105" y="1338885"/>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F6B234E2-51F8-0202-1229-42ABC1CEDBC3}"/>
              </a:ext>
            </a:extLst>
          </p:cNvPr>
          <p:cNvSpPr txBox="1"/>
          <p:nvPr/>
        </p:nvSpPr>
        <p:spPr>
          <a:xfrm>
            <a:off x="1602105" y="181184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UX design/ Quality Assurance</a:t>
            </a:r>
            <a:endParaRPr lang="en-GB" sz="1200" dirty="0">
              <a:latin typeface="Aparajita" panose="020B0502040204020203" pitchFamily="18" charset="0"/>
              <a:cs typeface="Aparajita" panose="020B0502040204020203" pitchFamily="18" charset="0"/>
            </a:endParaRPr>
          </a:p>
        </p:txBody>
      </p:sp>
      <p:sp>
        <p:nvSpPr>
          <p:cNvPr id="18" name="TextBox 17">
            <a:extLst>
              <a:ext uri="{FF2B5EF4-FFF2-40B4-BE49-F238E27FC236}">
                <a16:creationId xmlns:a16="http://schemas.microsoft.com/office/drawing/2014/main" id="{C84E19C6-C733-2237-1091-16B2118AA63C}"/>
              </a:ext>
            </a:extLst>
          </p:cNvPr>
          <p:cNvSpPr txBox="1"/>
          <p:nvPr/>
        </p:nvSpPr>
        <p:spPr>
          <a:xfrm>
            <a:off x="1602105" y="255051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a:t>
            </a:r>
            <a:r>
              <a:rPr lang="en-ZA" sz="2400" dirty="0" err="1">
                <a:effectLst/>
                <a:latin typeface="Calibri" panose="020F0502020204030204" pitchFamily="34" charset="0"/>
                <a:ea typeface="Calibri" panose="020F0502020204030204" pitchFamily="34" charset="0"/>
                <a:cs typeface="Times New Roman" panose="02020603050405020304" pitchFamily="18" charset="0"/>
              </a:rPr>
              <a:t>Sityi</a:t>
            </a:r>
            <a:endParaRPr lang="en-US" dirty="0"/>
          </a:p>
        </p:txBody>
      </p:sp>
      <p:sp>
        <p:nvSpPr>
          <p:cNvPr id="19" name="TextBox 18">
            <a:extLst>
              <a:ext uri="{FF2B5EF4-FFF2-40B4-BE49-F238E27FC236}">
                <a16:creationId xmlns:a16="http://schemas.microsoft.com/office/drawing/2014/main" id="{4F1A3F2E-EBFD-5B67-0056-194D000ABD65}"/>
              </a:ext>
            </a:extLst>
          </p:cNvPr>
          <p:cNvSpPr txBox="1"/>
          <p:nvPr/>
        </p:nvSpPr>
        <p:spPr>
          <a:xfrm>
            <a:off x="1602105" y="301217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0" name="TextBox 19">
            <a:extLst>
              <a:ext uri="{FF2B5EF4-FFF2-40B4-BE49-F238E27FC236}">
                <a16:creationId xmlns:a16="http://schemas.microsoft.com/office/drawing/2014/main" id="{26C6A91A-9485-D1A9-E064-B21F6397927B}"/>
              </a:ext>
            </a:extLst>
          </p:cNvPr>
          <p:cNvSpPr txBox="1"/>
          <p:nvPr/>
        </p:nvSpPr>
        <p:spPr>
          <a:xfrm>
            <a:off x="1602105" y="3750839"/>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21" name="TextBox 20">
            <a:extLst>
              <a:ext uri="{FF2B5EF4-FFF2-40B4-BE49-F238E27FC236}">
                <a16:creationId xmlns:a16="http://schemas.microsoft.com/office/drawing/2014/main" id="{CF23AEDD-8AE3-C98F-78C9-BD777ED94E61}"/>
              </a:ext>
            </a:extLst>
          </p:cNvPr>
          <p:cNvSpPr txBox="1"/>
          <p:nvPr/>
        </p:nvSpPr>
        <p:spPr>
          <a:xfrm>
            <a:off x="1602105" y="4212504"/>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2" name="TextBox 21">
            <a:extLst>
              <a:ext uri="{FF2B5EF4-FFF2-40B4-BE49-F238E27FC236}">
                <a16:creationId xmlns:a16="http://schemas.microsoft.com/office/drawing/2014/main" id="{9FB1BC02-92EB-2B9F-20D2-7F2B81B7F4DD}"/>
              </a:ext>
            </a:extLst>
          </p:cNvPr>
          <p:cNvSpPr txBox="1"/>
          <p:nvPr/>
        </p:nvSpPr>
        <p:spPr>
          <a:xfrm>
            <a:off x="1602105" y="4951168"/>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23" name="TextBox 22">
            <a:extLst>
              <a:ext uri="{FF2B5EF4-FFF2-40B4-BE49-F238E27FC236}">
                <a16:creationId xmlns:a16="http://schemas.microsoft.com/office/drawing/2014/main" id="{CB706224-29D9-ECF3-0197-04243588C86B}"/>
              </a:ext>
            </a:extLst>
          </p:cNvPr>
          <p:cNvSpPr txBox="1"/>
          <p:nvPr/>
        </p:nvSpPr>
        <p:spPr>
          <a:xfrm>
            <a:off x="1602105" y="5412833"/>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8" name="Oval 7">
            <a:extLst>
              <a:ext uri="{FF2B5EF4-FFF2-40B4-BE49-F238E27FC236}">
                <a16:creationId xmlns:a16="http://schemas.microsoft.com/office/drawing/2014/main" id="{F236F180-32D6-7E81-5E72-CEAC974CE481}"/>
              </a:ext>
            </a:extLst>
          </p:cNvPr>
          <p:cNvSpPr/>
          <p:nvPr/>
        </p:nvSpPr>
        <p:spPr>
          <a:xfrm>
            <a:off x="5642796" y="-2792926"/>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ox with wires connected to it&#10;&#10;Description automatically generated">
            <a:extLst>
              <a:ext uri="{FF2B5EF4-FFF2-40B4-BE49-F238E27FC236}">
                <a16:creationId xmlns:a16="http://schemas.microsoft.com/office/drawing/2014/main" id="{78B6E365-C0F6-FB69-E83A-C85753FE6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71335" y="2128326"/>
            <a:ext cx="5712172" cy="5712172"/>
          </a:xfrm>
          <a:prstGeom prst="rect">
            <a:avLst/>
          </a:prstGeom>
        </p:spPr>
      </p:pic>
      <p:pic>
        <p:nvPicPr>
          <p:cNvPr id="4" name="Picture 3" descr="A person in a white shirt&#10;&#10;Description automatically generated">
            <a:extLst>
              <a:ext uri="{FF2B5EF4-FFF2-40B4-BE49-F238E27FC236}">
                <a16:creationId xmlns:a16="http://schemas.microsoft.com/office/drawing/2014/main" id="{008B600D-E80F-C73F-7F8B-523CFB5F7835}"/>
              </a:ext>
            </a:extLst>
          </p:cNvPr>
          <p:cNvPicPr>
            <a:picLocks noChangeAspect="1"/>
          </p:cNvPicPr>
          <p:nvPr/>
        </p:nvPicPr>
        <p:blipFill>
          <a:blip r:embed="rId7" cstate="print">
            <a:extLst>
              <a:ext uri="{28A0092B-C50C-407E-A947-70E740481C1C}">
                <a14:useLocalDpi xmlns:a14="http://schemas.microsoft.com/office/drawing/2010/main" val="0"/>
              </a:ext>
            </a:extLst>
          </a:blip>
          <a:srcRect r="30959" b="18310"/>
          <a:stretch/>
        </p:blipFill>
        <p:spPr>
          <a:xfrm>
            <a:off x="254289" y="139700"/>
            <a:ext cx="1188463" cy="1128196"/>
          </a:xfrm>
          <a:prstGeom prst="ellipse">
            <a:avLst/>
          </a:prstGeom>
          <a:ln w="28575">
            <a:solidFill>
              <a:schemeClr val="accent6">
                <a:lumMod val="75000"/>
              </a:schemeClr>
            </a:solidFill>
          </a:ln>
        </p:spPr>
      </p:pic>
      <p:sp>
        <p:nvSpPr>
          <p:cNvPr id="14" name="TextBox 13">
            <a:extLst>
              <a:ext uri="{FF2B5EF4-FFF2-40B4-BE49-F238E27FC236}">
                <a16:creationId xmlns:a16="http://schemas.microsoft.com/office/drawing/2014/main" id="{53C059B6-F6A7-B921-0814-C3B3D35F5EAE}"/>
              </a:ext>
            </a:extLst>
          </p:cNvPr>
          <p:cNvSpPr txBox="1"/>
          <p:nvPr/>
        </p:nvSpPr>
        <p:spPr>
          <a:xfrm>
            <a:off x="1602105" y="13970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15" name="TextBox 14">
            <a:extLst>
              <a:ext uri="{FF2B5EF4-FFF2-40B4-BE49-F238E27FC236}">
                <a16:creationId xmlns:a16="http://schemas.microsoft.com/office/drawing/2014/main" id="{4DDD4A9E-80B5-7F13-741C-F1E5FF5F542E}"/>
              </a:ext>
            </a:extLst>
          </p:cNvPr>
          <p:cNvSpPr txBox="1"/>
          <p:nvPr/>
        </p:nvSpPr>
        <p:spPr>
          <a:xfrm>
            <a:off x="1602105" y="60136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18" name="TextBox 117">
            <a:extLst>
              <a:ext uri="{FF2B5EF4-FFF2-40B4-BE49-F238E27FC236}">
                <a16:creationId xmlns:a16="http://schemas.microsoft.com/office/drawing/2014/main" id="{F17F6C1A-D867-4217-0AF6-89EFF81D8B15}"/>
              </a:ext>
            </a:extLst>
          </p:cNvPr>
          <p:cNvSpPr txBox="1"/>
          <p:nvPr/>
        </p:nvSpPr>
        <p:spPr>
          <a:xfrm>
            <a:off x="6902245" y="265471"/>
            <a:ext cx="3687650" cy="523220"/>
          </a:xfrm>
          <a:prstGeom prst="rect">
            <a:avLst/>
          </a:prstGeom>
          <a:noFill/>
        </p:spPr>
        <p:txBody>
          <a:bodyPr wrap="square" rtlCol="0">
            <a:spAutoFit/>
          </a:bodyPr>
          <a:lstStyle/>
          <a:p>
            <a:r>
              <a:rPr lang="en-GB" sz="2800" dirty="0"/>
              <a:t>ROLES:</a:t>
            </a:r>
            <a:endParaRPr lang="en-US" sz="2800" dirty="0"/>
          </a:p>
        </p:txBody>
      </p:sp>
      <p:sp>
        <p:nvSpPr>
          <p:cNvPr id="119" name="TextBox 118">
            <a:extLst>
              <a:ext uri="{FF2B5EF4-FFF2-40B4-BE49-F238E27FC236}">
                <a16:creationId xmlns:a16="http://schemas.microsoft.com/office/drawing/2014/main" id="{B24CC4D2-AA37-7CCA-F7DB-56D0E7AAA791}"/>
              </a:ext>
            </a:extLst>
          </p:cNvPr>
          <p:cNvSpPr txBox="1"/>
          <p:nvPr/>
        </p:nvSpPr>
        <p:spPr>
          <a:xfrm>
            <a:off x="6902245" y="1267896"/>
            <a:ext cx="4994711" cy="2585323"/>
          </a:xfrm>
          <a:prstGeom prst="rect">
            <a:avLst/>
          </a:prstGeom>
          <a:noFill/>
        </p:spPr>
        <p:txBody>
          <a:bodyPr wrap="square" rtlCol="0">
            <a:spAutoFit/>
          </a:bodyPr>
          <a:lstStyle/>
          <a:p>
            <a:r>
              <a:rPr lang="en-GB" dirty="0"/>
              <a:t>Create wireframes and prototypes to visualize the user journey, navigation, and layout before development begins.</a:t>
            </a:r>
          </a:p>
          <a:p>
            <a:endParaRPr lang="en-GB" dirty="0"/>
          </a:p>
          <a:p>
            <a:pPr lvl="0"/>
            <a:r>
              <a:rPr lang="en-GB" dirty="0"/>
              <a:t>Design the visual elements that align with the brand and enhance usability</a:t>
            </a:r>
          </a:p>
          <a:p>
            <a:pPr lvl="0"/>
            <a:endParaRPr lang="en-US" dirty="0"/>
          </a:p>
          <a:p>
            <a:pPr lvl="0"/>
            <a:r>
              <a:rPr lang="en-GB" dirty="0"/>
              <a:t>Ensure that new changes don’t break existing functionality by running tests after updates</a:t>
            </a:r>
            <a:endParaRPr lang="en-US" dirty="0"/>
          </a:p>
        </p:txBody>
      </p:sp>
      <p:pic>
        <p:nvPicPr>
          <p:cNvPr id="121" name="Picture 120" descr="A purple hexagon with a white letter c and a hashtag&#10;&#10;Description automatically generated">
            <a:extLst>
              <a:ext uri="{FF2B5EF4-FFF2-40B4-BE49-F238E27FC236}">
                <a16:creationId xmlns:a16="http://schemas.microsoft.com/office/drawing/2014/main" id="{AAD5A7B5-9593-4E13-AF2A-9FDA0D252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4696" y="5943163"/>
            <a:ext cx="904935" cy="904935"/>
          </a:xfrm>
          <a:prstGeom prst="rect">
            <a:avLst/>
          </a:prstGeom>
        </p:spPr>
      </p:pic>
      <p:pic>
        <p:nvPicPr>
          <p:cNvPr id="123" name="Picture 122">
            <a:extLst>
              <a:ext uri="{FF2B5EF4-FFF2-40B4-BE49-F238E27FC236}">
                <a16:creationId xmlns:a16="http://schemas.microsoft.com/office/drawing/2014/main" id="{4D1F11EB-2911-31BE-CE72-5837F0015A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57263" y="6106478"/>
            <a:ext cx="465874" cy="481403"/>
          </a:xfrm>
          <a:prstGeom prst="rect">
            <a:avLst/>
          </a:prstGeom>
        </p:spPr>
      </p:pic>
      <p:pic>
        <p:nvPicPr>
          <p:cNvPr id="125" name="Picture 124" descr="A logo of a coffee cup&#10;&#10;Description automatically generated">
            <a:extLst>
              <a:ext uri="{FF2B5EF4-FFF2-40B4-BE49-F238E27FC236}">
                <a16:creationId xmlns:a16="http://schemas.microsoft.com/office/drawing/2014/main" id="{AA570C7A-34F9-22B1-C692-A2177694DC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91397" y="6035278"/>
            <a:ext cx="603064" cy="603064"/>
          </a:xfrm>
          <a:prstGeom prst="rect">
            <a:avLst/>
          </a:prstGeom>
        </p:spPr>
      </p:pic>
      <p:pic>
        <p:nvPicPr>
          <p:cNvPr id="127" name="Picture 126" descr="A blue cylinder with black text&#10;&#10;Description automatically generated">
            <a:extLst>
              <a:ext uri="{FF2B5EF4-FFF2-40B4-BE49-F238E27FC236}">
                <a16:creationId xmlns:a16="http://schemas.microsoft.com/office/drawing/2014/main" id="{F2E68C27-E8C1-5E9D-54EF-C1227C62DF9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39342" y="6117492"/>
            <a:ext cx="603064" cy="603064"/>
          </a:xfrm>
          <a:prstGeom prst="rect">
            <a:avLst/>
          </a:prstGeom>
        </p:spPr>
      </p:pic>
      <p:grpSp>
        <p:nvGrpSpPr>
          <p:cNvPr id="117" name="Group 116">
            <a:extLst>
              <a:ext uri="{FF2B5EF4-FFF2-40B4-BE49-F238E27FC236}">
                <a16:creationId xmlns:a16="http://schemas.microsoft.com/office/drawing/2014/main" id="{EB32F203-CACA-F389-6C40-3CC3551A3159}"/>
              </a:ext>
            </a:extLst>
          </p:cNvPr>
          <p:cNvGrpSpPr/>
          <p:nvPr/>
        </p:nvGrpSpPr>
        <p:grpSpPr>
          <a:xfrm>
            <a:off x="-1490303" y="-3967571"/>
            <a:ext cx="6843080" cy="21110904"/>
            <a:chOff x="-1549230" y="-5173191"/>
            <a:chExt cx="6843080" cy="21110904"/>
          </a:xfrm>
        </p:grpSpPr>
        <p:sp>
          <p:nvSpPr>
            <p:cNvPr id="116" name="Freeform: Shape 115">
              <a:extLst>
                <a:ext uri="{FF2B5EF4-FFF2-40B4-BE49-F238E27FC236}">
                  <a16:creationId xmlns:a16="http://schemas.microsoft.com/office/drawing/2014/main" id="{AD822BDB-2538-4D12-68CE-FBEC5E4BF819}"/>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BB42C665-C236-E07E-526D-C9155CBD67D9}"/>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170DA5EE-16A7-67A6-A9F5-D69663398FB1}"/>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C46899DB-8495-31AD-D0E1-E5DA795D42B8}"/>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E548B82-4BF1-7995-FB24-DF4720C45232}"/>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5CC5FBE-6504-D68C-37F5-0528365ABFC1}"/>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9BCC196-91BE-A6E0-8547-FD9D7707F41A}"/>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0988562-1E3B-6ED5-7933-7A08E117B374}"/>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310875DC-4C04-3D0F-0919-A7FE5BF24EA2}"/>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3AB984B2-E047-1D52-9D5B-6BB8F4235B8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1BB0944-09EC-3706-8682-2250C89E9233}"/>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474DA1A4-6E12-DC94-BDC8-04C6B679C498}"/>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A8E6EBF0-AA5B-E9CD-495C-92155E709A47}"/>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75122D-9114-C711-8651-9AC2A450F43C}"/>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E847CFA-DF97-65A7-E61A-099E93499ED4}"/>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D937E43B-E532-DE74-5031-1881845BAEE2}"/>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D2CC8F3-6BDD-B364-192C-6946C52E74F4}"/>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F19E2D14-F404-058D-EBC1-3CE8AB09BCD8}"/>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1EC27456-5030-A2DA-CA62-713BC945A383}"/>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39F3B7A-39FD-C26E-3F8C-6A8B0EBC0D97}"/>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56270C93-6D58-B25C-CFBD-BCC54A261AD1}"/>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FC90350-155B-49BE-40B5-1C4199F300F3}"/>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44753B1-36E9-9CB4-58C5-81BD30EB392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BC031C03-451F-F9EF-B038-1C1D8A005D63}"/>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EA657875-DE63-F2F8-CF03-F6D543396EE1}"/>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3983985-E5C3-B45B-EF8C-78BF56AC824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0CFA42EE-36E8-BBA4-E5C1-F250B7AB8D85}"/>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5D20B6CD-0A13-3C7C-C90D-2EA88FD065EE}"/>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88395509-6DF4-A872-7195-68D9BE99F09C}"/>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Rounded Corners 109">
              <a:extLst>
                <a:ext uri="{FF2B5EF4-FFF2-40B4-BE49-F238E27FC236}">
                  <a16:creationId xmlns:a16="http://schemas.microsoft.com/office/drawing/2014/main" id="{496B6289-0458-DD98-B1DC-F2263E2BB937}"/>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26BD83D-77F0-E6CF-CEBE-1FC75004269D}"/>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97098E6E-AA71-C5FF-68B6-B90EB9C86F5A}"/>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C061659-087E-7E2F-7341-409A903C466C}"/>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20E33033-C464-1872-CAE7-EEE3CCEA5B6A}"/>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Tree>
    <p:extLst>
      <p:ext uri="{BB962C8B-B14F-4D97-AF65-F5344CB8AC3E}">
        <p14:creationId xmlns:p14="http://schemas.microsoft.com/office/powerpoint/2010/main" val="2486798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7F4205-924B-0F14-A959-A673AFBEE2C0}"/>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218646" y="1350181"/>
            <a:ext cx="1105329" cy="1001782"/>
          </a:xfrm>
          <a:prstGeom prst="ellipse">
            <a:avLst/>
          </a:prstGeom>
        </p:spPr>
      </p:pic>
      <p:pic>
        <p:nvPicPr>
          <p:cNvPr id="7" name="Picture 6">
            <a:extLst>
              <a:ext uri="{FF2B5EF4-FFF2-40B4-BE49-F238E27FC236}">
                <a16:creationId xmlns:a16="http://schemas.microsoft.com/office/drawing/2014/main" id="{20B2A5CD-D31F-D74D-6D3F-5CCCC9486832}"/>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218646" y="2560231"/>
            <a:ext cx="1105329" cy="1001782"/>
          </a:xfrm>
          <a:prstGeom prst="ellipse">
            <a:avLst/>
          </a:prstGeom>
        </p:spPr>
      </p:pic>
      <p:pic>
        <p:nvPicPr>
          <p:cNvPr id="9" name="Picture 8" descr="A person in a white shirt&#10;&#10;Description automatically generated">
            <a:extLst>
              <a:ext uri="{FF2B5EF4-FFF2-40B4-BE49-F238E27FC236}">
                <a16:creationId xmlns:a16="http://schemas.microsoft.com/office/drawing/2014/main" id="{D3EB2952-AA61-5F18-4481-389B9274B213}"/>
              </a:ext>
            </a:extLst>
          </p:cNvPr>
          <p:cNvPicPr>
            <a:picLocks noChangeAspect="1"/>
          </p:cNvPicPr>
          <p:nvPr/>
        </p:nvPicPr>
        <p:blipFill>
          <a:blip r:embed="rId4" cstate="print">
            <a:extLst>
              <a:ext uri="{28A0092B-C50C-407E-A947-70E740481C1C}">
                <a14:useLocalDpi xmlns:a14="http://schemas.microsoft.com/office/drawing/2010/main" val="0"/>
              </a:ext>
            </a:extLst>
          </a:blip>
          <a:srcRect r="30959" b="18310"/>
          <a:stretch/>
        </p:blipFill>
        <p:spPr>
          <a:xfrm>
            <a:off x="236117" y="3770281"/>
            <a:ext cx="1090749" cy="988568"/>
          </a:xfrm>
          <a:prstGeom prst="ellipse">
            <a:avLst/>
          </a:prstGeom>
        </p:spPr>
      </p:pic>
      <p:pic>
        <p:nvPicPr>
          <p:cNvPr id="13" name="Picture 12" descr="A person in a white shirt&#10;&#10;Description automatically generated">
            <a:extLst>
              <a:ext uri="{FF2B5EF4-FFF2-40B4-BE49-F238E27FC236}">
                <a16:creationId xmlns:a16="http://schemas.microsoft.com/office/drawing/2014/main" id="{0FC74D8A-D96D-78F2-5875-B7762520ACEB}"/>
              </a:ext>
            </a:extLst>
          </p:cNvPr>
          <p:cNvPicPr>
            <a:picLocks noChangeAspect="1"/>
          </p:cNvPicPr>
          <p:nvPr/>
        </p:nvPicPr>
        <p:blipFill>
          <a:blip r:embed="rId5" cstate="print">
            <a:extLst>
              <a:ext uri="{28A0092B-C50C-407E-A947-70E740481C1C}">
                <a14:useLocalDpi xmlns:a14="http://schemas.microsoft.com/office/drawing/2010/main" val="0"/>
              </a:ext>
            </a:extLst>
          </a:blip>
          <a:srcRect r="30959" b="18310"/>
          <a:stretch/>
        </p:blipFill>
        <p:spPr>
          <a:xfrm>
            <a:off x="236117" y="4967117"/>
            <a:ext cx="1087858" cy="985948"/>
          </a:xfrm>
          <a:prstGeom prst="ellipse">
            <a:avLst/>
          </a:prstGeom>
        </p:spPr>
      </p:pic>
      <p:sp>
        <p:nvSpPr>
          <p:cNvPr id="16" name="TextBox 15">
            <a:extLst>
              <a:ext uri="{FF2B5EF4-FFF2-40B4-BE49-F238E27FC236}">
                <a16:creationId xmlns:a16="http://schemas.microsoft.com/office/drawing/2014/main" id="{CC7C1A16-50F3-FDF4-7E75-7DC7EFFDCE77}"/>
              </a:ext>
            </a:extLst>
          </p:cNvPr>
          <p:cNvSpPr txBox="1"/>
          <p:nvPr/>
        </p:nvSpPr>
        <p:spPr>
          <a:xfrm>
            <a:off x="1602105" y="1338885"/>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F6B234E2-51F8-0202-1229-42ABC1CEDBC3}"/>
              </a:ext>
            </a:extLst>
          </p:cNvPr>
          <p:cNvSpPr txBox="1"/>
          <p:nvPr/>
        </p:nvSpPr>
        <p:spPr>
          <a:xfrm>
            <a:off x="1602105" y="181184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8" name="TextBox 17">
            <a:extLst>
              <a:ext uri="{FF2B5EF4-FFF2-40B4-BE49-F238E27FC236}">
                <a16:creationId xmlns:a16="http://schemas.microsoft.com/office/drawing/2014/main" id="{C84E19C6-C733-2237-1091-16B2118AA63C}"/>
              </a:ext>
            </a:extLst>
          </p:cNvPr>
          <p:cNvSpPr txBox="1"/>
          <p:nvPr/>
        </p:nvSpPr>
        <p:spPr>
          <a:xfrm>
            <a:off x="1602105" y="255051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Sityi</a:t>
            </a:r>
            <a:endParaRPr lang="en-US" dirty="0"/>
          </a:p>
        </p:txBody>
      </p:sp>
      <p:sp>
        <p:nvSpPr>
          <p:cNvPr id="19" name="TextBox 18">
            <a:extLst>
              <a:ext uri="{FF2B5EF4-FFF2-40B4-BE49-F238E27FC236}">
                <a16:creationId xmlns:a16="http://schemas.microsoft.com/office/drawing/2014/main" id="{4F1A3F2E-EBFD-5B67-0056-194D000ABD65}"/>
              </a:ext>
            </a:extLst>
          </p:cNvPr>
          <p:cNvSpPr txBox="1"/>
          <p:nvPr/>
        </p:nvSpPr>
        <p:spPr>
          <a:xfrm>
            <a:off x="1602105" y="301217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 Backend</a:t>
            </a:r>
          </a:p>
        </p:txBody>
      </p:sp>
      <p:sp>
        <p:nvSpPr>
          <p:cNvPr id="20" name="TextBox 19">
            <a:extLst>
              <a:ext uri="{FF2B5EF4-FFF2-40B4-BE49-F238E27FC236}">
                <a16:creationId xmlns:a16="http://schemas.microsoft.com/office/drawing/2014/main" id="{26C6A91A-9485-D1A9-E064-B21F6397927B}"/>
              </a:ext>
            </a:extLst>
          </p:cNvPr>
          <p:cNvSpPr txBox="1"/>
          <p:nvPr/>
        </p:nvSpPr>
        <p:spPr>
          <a:xfrm>
            <a:off x="1602105" y="3750839"/>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21" name="TextBox 20">
            <a:extLst>
              <a:ext uri="{FF2B5EF4-FFF2-40B4-BE49-F238E27FC236}">
                <a16:creationId xmlns:a16="http://schemas.microsoft.com/office/drawing/2014/main" id="{CF23AEDD-8AE3-C98F-78C9-BD777ED94E61}"/>
              </a:ext>
            </a:extLst>
          </p:cNvPr>
          <p:cNvSpPr txBox="1"/>
          <p:nvPr/>
        </p:nvSpPr>
        <p:spPr>
          <a:xfrm>
            <a:off x="1602105" y="4212504"/>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2" name="TextBox 21">
            <a:extLst>
              <a:ext uri="{FF2B5EF4-FFF2-40B4-BE49-F238E27FC236}">
                <a16:creationId xmlns:a16="http://schemas.microsoft.com/office/drawing/2014/main" id="{9FB1BC02-92EB-2B9F-20D2-7F2B81B7F4DD}"/>
              </a:ext>
            </a:extLst>
          </p:cNvPr>
          <p:cNvSpPr txBox="1"/>
          <p:nvPr/>
        </p:nvSpPr>
        <p:spPr>
          <a:xfrm>
            <a:off x="1602105" y="4951168"/>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23" name="TextBox 22">
            <a:extLst>
              <a:ext uri="{FF2B5EF4-FFF2-40B4-BE49-F238E27FC236}">
                <a16:creationId xmlns:a16="http://schemas.microsoft.com/office/drawing/2014/main" id="{CB706224-29D9-ECF3-0197-04243588C86B}"/>
              </a:ext>
            </a:extLst>
          </p:cNvPr>
          <p:cNvSpPr txBox="1"/>
          <p:nvPr/>
        </p:nvSpPr>
        <p:spPr>
          <a:xfrm>
            <a:off x="1602105" y="5412833"/>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8" name="Oval 7">
            <a:extLst>
              <a:ext uri="{FF2B5EF4-FFF2-40B4-BE49-F238E27FC236}">
                <a16:creationId xmlns:a16="http://schemas.microsoft.com/office/drawing/2014/main" id="{F236F180-32D6-7E81-5E72-CEAC974CE481}"/>
              </a:ext>
            </a:extLst>
          </p:cNvPr>
          <p:cNvSpPr/>
          <p:nvPr/>
        </p:nvSpPr>
        <p:spPr>
          <a:xfrm>
            <a:off x="5642796" y="-2792926"/>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ox with wires connected to it&#10;&#10;Description automatically generated">
            <a:extLst>
              <a:ext uri="{FF2B5EF4-FFF2-40B4-BE49-F238E27FC236}">
                <a16:creationId xmlns:a16="http://schemas.microsoft.com/office/drawing/2014/main" id="{78B6E365-C0F6-FB69-E83A-C85753FE6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71335" y="2128326"/>
            <a:ext cx="5712172" cy="5712172"/>
          </a:xfrm>
          <a:prstGeom prst="rect">
            <a:avLst/>
          </a:prstGeom>
        </p:spPr>
      </p:pic>
      <p:pic>
        <p:nvPicPr>
          <p:cNvPr id="4" name="Picture 3" descr="A person in a white shirt&#10;&#10;Description automatically generated">
            <a:extLst>
              <a:ext uri="{FF2B5EF4-FFF2-40B4-BE49-F238E27FC236}">
                <a16:creationId xmlns:a16="http://schemas.microsoft.com/office/drawing/2014/main" id="{008B600D-E80F-C73F-7F8B-523CFB5F7835}"/>
              </a:ext>
            </a:extLst>
          </p:cNvPr>
          <p:cNvPicPr>
            <a:picLocks noChangeAspect="1"/>
          </p:cNvPicPr>
          <p:nvPr/>
        </p:nvPicPr>
        <p:blipFill>
          <a:blip r:embed="rId7" cstate="print">
            <a:extLst>
              <a:ext uri="{28A0092B-C50C-407E-A947-70E740481C1C}">
                <a14:useLocalDpi xmlns:a14="http://schemas.microsoft.com/office/drawing/2010/main" val="0"/>
              </a:ext>
            </a:extLst>
          </a:blip>
          <a:srcRect r="30959" b="18310"/>
          <a:stretch/>
        </p:blipFill>
        <p:spPr>
          <a:xfrm>
            <a:off x="254289" y="139700"/>
            <a:ext cx="1188463" cy="1128196"/>
          </a:xfrm>
          <a:prstGeom prst="ellipse">
            <a:avLst/>
          </a:prstGeom>
          <a:ln w="28575">
            <a:solidFill>
              <a:schemeClr val="accent6">
                <a:lumMod val="75000"/>
              </a:schemeClr>
            </a:solidFill>
          </a:ln>
        </p:spPr>
      </p:pic>
      <p:sp>
        <p:nvSpPr>
          <p:cNvPr id="14" name="TextBox 13">
            <a:extLst>
              <a:ext uri="{FF2B5EF4-FFF2-40B4-BE49-F238E27FC236}">
                <a16:creationId xmlns:a16="http://schemas.microsoft.com/office/drawing/2014/main" id="{53C059B6-F6A7-B921-0814-C3B3D35F5EAE}"/>
              </a:ext>
            </a:extLst>
          </p:cNvPr>
          <p:cNvSpPr txBox="1"/>
          <p:nvPr/>
        </p:nvSpPr>
        <p:spPr>
          <a:xfrm>
            <a:off x="1602105" y="13970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15" name="TextBox 14">
            <a:extLst>
              <a:ext uri="{FF2B5EF4-FFF2-40B4-BE49-F238E27FC236}">
                <a16:creationId xmlns:a16="http://schemas.microsoft.com/office/drawing/2014/main" id="{4DDD4A9E-80B5-7F13-741C-F1E5FF5F542E}"/>
              </a:ext>
            </a:extLst>
          </p:cNvPr>
          <p:cNvSpPr txBox="1"/>
          <p:nvPr/>
        </p:nvSpPr>
        <p:spPr>
          <a:xfrm>
            <a:off x="1602105" y="60136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18" name="TextBox 117">
            <a:extLst>
              <a:ext uri="{FF2B5EF4-FFF2-40B4-BE49-F238E27FC236}">
                <a16:creationId xmlns:a16="http://schemas.microsoft.com/office/drawing/2014/main" id="{F17F6C1A-D867-4217-0AF6-89EFF81D8B15}"/>
              </a:ext>
            </a:extLst>
          </p:cNvPr>
          <p:cNvSpPr txBox="1"/>
          <p:nvPr/>
        </p:nvSpPr>
        <p:spPr>
          <a:xfrm>
            <a:off x="6902245" y="265471"/>
            <a:ext cx="3687650" cy="523220"/>
          </a:xfrm>
          <a:prstGeom prst="rect">
            <a:avLst/>
          </a:prstGeom>
          <a:noFill/>
        </p:spPr>
        <p:txBody>
          <a:bodyPr wrap="square" rtlCol="0">
            <a:spAutoFit/>
          </a:bodyPr>
          <a:lstStyle/>
          <a:p>
            <a:r>
              <a:rPr lang="en-GB" sz="2800" dirty="0"/>
              <a:t>ROLES:</a:t>
            </a:r>
            <a:endParaRPr lang="en-US" sz="2800" dirty="0"/>
          </a:p>
        </p:txBody>
      </p:sp>
      <p:sp>
        <p:nvSpPr>
          <p:cNvPr id="119" name="TextBox 118">
            <a:extLst>
              <a:ext uri="{FF2B5EF4-FFF2-40B4-BE49-F238E27FC236}">
                <a16:creationId xmlns:a16="http://schemas.microsoft.com/office/drawing/2014/main" id="{B24CC4D2-AA37-7CCA-F7DB-56D0E7AAA791}"/>
              </a:ext>
            </a:extLst>
          </p:cNvPr>
          <p:cNvSpPr txBox="1"/>
          <p:nvPr/>
        </p:nvSpPr>
        <p:spPr>
          <a:xfrm>
            <a:off x="6902245" y="1267896"/>
            <a:ext cx="4994711" cy="3139321"/>
          </a:xfrm>
          <a:prstGeom prst="rect">
            <a:avLst/>
          </a:prstGeom>
          <a:noFill/>
        </p:spPr>
        <p:txBody>
          <a:bodyPr wrap="square" rtlCol="0">
            <a:spAutoFit/>
          </a:bodyPr>
          <a:lstStyle/>
          <a:p>
            <a:r>
              <a:rPr lang="en-GB" dirty="0"/>
              <a:t>Design, implement, and optimize database schemas, queries, and connections for efficient data retrieval and storage.</a:t>
            </a:r>
          </a:p>
          <a:p>
            <a:endParaRPr lang="en-GB" dirty="0"/>
          </a:p>
          <a:p>
            <a:pPr lvl="0"/>
            <a:r>
              <a:rPr lang="en-GB" dirty="0"/>
              <a:t>Monitor application performance and optimize code or database queries to improve responsiveness.</a:t>
            </a:r>
          </a:p>
          <a:p>
            <a:pPr lvl="0"/>
            <a:endParaRPr lang="en-US" dirty="0"/>
          </a:p>
          <a:p>
            <a:pPr lvl="0"/>
            <a:r>
              <a:rPr lang="en-ZA" dirty="0"/>
              <a:t>Ensure the application is scalable and secure.</a:t>
            </a:r>
            <a:endParaRPr lang="en-US" dirty="0"/>
          </a:p>
          <a:p>
            <a:r>
              <a:rPr lang="en-ZA" dirty="0"/>
              <a:t>Integrate third-party services and APIs as needed.</a:t>
            </a:r>
            <a:endParaRPr lang="en-US" dirty="0"/>
          </a:p>
        </p:txBody>
      </p:sp>
      <p:pic>
        <p:nvPicPr>
          <p:cNvPr id="121" name="Picture 120" descr="A purple hexagon with a white letter c and a hashtag&#10;&#10;Description automatically generated">
            <a:extLst>
              <a:ext uri="{FF2B5EF4-FFF2-40B4-BE49-F238E27FC236}">
                <a16:creationId xmlns:a16="http://schemas.microsoft.com/office/drawing/2014/main" id="{AAD5A7B5-9593-4E13-AF2A-9FDA0D252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4696" y="5943163"/>
            <a:ext cx="904935" cy="904935"/>
          </a:xfrm>
          <a:prstGeom prst="rect">
            <a:avLst/>
          </a:prstGeom>
        </p:spPr>
      </p:pic>
      <p:pic>
        <p:nvPicPr>
          <p:cNvPr id="123" name="Picture 122">
            <a:extLst>
              <a:ext uri="{FF2B5EF4-FFF2-40B4-BE49-F238E27FC236}">
                <a16:creationId xmlns:a16="http://schemas.microsoft.com/office/drawing/2014/main" id="{4D1F11EB-2911-31BE-CE72-5837F0015A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57263" y="6106478"/>
            <a:ext cx="465874" cy="481403"/>
          </a:xfrm>
          <a:prstGeom prst="rect">
            <a:avLst/>
          </a:prstGeom>
        </p:spPr>
      </p:pic>
      <p:pic>
        <p:nvPicPr>
          <p:cNvPr id="125" name="Picture 124" descr="A logo of a coffee cup&#10;&#10;Description automatically generated">
            <a:extLst>
              <a:ext uri="{FF2B5EF4-FFF2-40B4-BE49-F238E27FC236}">
                <a16:creationId xmlns:a16="http://schemas.microsoft.com/office/drawing/2014/main" id="{AA570C7A-34F9-22B1-C692-A2177694DC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91397" y="6035278"/>
            <a:ext cx="603064" cy="603064"/>
          </a:xfrm>
          <a:prstGeom prst="rect">
            <a:avLst/>
          </a:prstGeom>
        </p:spPr>
      </p:pic>
      <p:pic>
        <p:nvPicPr>
          <p:cNvPr id="127" name="Picture 126" descr="A blue cylinder with black text&#10;&#10;Description automatically generated">
            <a:extLst>
              <a:ext uri="{FF2B5EF4-FFF2-40B4-BE49-F238E27FC236}">
                <a16:creationId xmlns:a16="http://schemas.microsoft.com/office/drawing/2014/main" id="{F2E68C27-E8C1-5E9D-54EF-C1227C62DF9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39342" y="6117492"/>
            <a:ext cx="603064" cy="603064"/>
          </a:xfrm>
          <a:prstGeom prst="rect">
            <a:avLst/>
          </a:prstGeom>
        </p:spPr>
      </p:pic>
      <p:grpSp>
        <p:nvGrpSpPr>
          <p:cNvPr id="117" name="Group 116">
            <a:extLst>
              <a:ext uri="{FF2B5EF4-FFF2-40B4-BE49-F238E27FC236}">
                <a16:creationId xmlns:a16="http://schemas.microsoft.com/office/drawing/2014/main" id="{EB32F203-CACA-F389-6C40-3CC3551A3159}"/>
              </a:ext>
            </a:extLst>
          </p:cNvPr>
          <p:cNvGrpSpPr/>
          <p:nvPr/>
        </p:nvGrpSpPr>
        <p:grpSpPr>
          <a:xfrm>
            <a:off x="-1536224" y="-2792926"/>
            <a:ext cx="6843080" cy="21110904"/>
            <a:chOff x="-1549230" y="-5173191"/>
            <a:chExt cx="6843080" cy="21110904"/>
          </a:xfrm>
        </p:grpSpPr>
        <p:sp>
          <p:nvSpPr>
            <p:cNvPr id="116" name="Freeform: Shape 115">
              <a:extLst>
                <a:ext uri="{FF2B5EF4-FFF2-40B4-BE49-F238E27FC236}">
                  <a16:creationId xmlns:a16="http://schemas.microsoft.com/office/drawing/2014/main" id="{AD822BDB-2538-4D12-68CE-FBEC5E4BF819}"/>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BB42C665-C236-E07E-526D-C9155CBD67D9}"/>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170DA5EE-16A7-67A6-A9F5-D69663398FB1}"/>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C46899DB-8495-31AD-D0E1-E5DA795D42B8}"/>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E548B82-4BF1-7995-FB24-DF4720C45232}"/>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5CC5FBE-6504-D68C-37F5-0528365ABFC1}"/>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9BCC196-91BE-A6E0-8547-FD9D7707F41A}"/>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0988562-1E3B-6ED5-7933-7A08E117B374}"/>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310875DC-4C04-3D0F-0919-A7FE5BF24EA2}"/>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3AB984B2-E047-1D52-9D5B-6BB8F4235B8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1BB0944-09EC-3706-8682-2250C89E9233}"/>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474DA1A4-6E12-DC94-BDC8-04C6B679C498}"/>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A8E6EBF0-AA5B-E9CD-495C-92155E709A47}"/>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75122D-9114-C711-8651-9AC2A450F43C}"/>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E847CFA-DF97-65A7-E61A-099E93499ED4}"/>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D937E43B-E532-DE74-5031-1881845BAEE2}"/>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D2CC8F3-6BDD-B364-192C-6946C52E74F4}"/>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F19E2D14-F404-058D-EBC1-3CE8AB09BCD8}"/>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1EC27456-5030-A2DA-CA62-713BC945A383}"/>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39F3B7A-39FD-C26E-3F8C-6A8B0EBC0D97}"/>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56270C93-6D58-B25C-CFBD-BCC54A261AD1}"/>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FC90350-155B-49BE-40B5-1C4199F300F3}"/>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44753B1-36E9-9CB4-58C5-81BD30EB392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BC031C03-451F-F9EF-B038-1C1D8A005D63}"/>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EA657875-DE63-F2F8-CF03-F6D543396EE1}"/>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3983985-E5C3-B45B-EF8C-78BF56AC824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0CFA42EE-36E8-BBA4-E5C1-F250B7AB8D85}"/>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5D20B6CD-0A13-3C7C-C90D-2EA88FD065EE}"/>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88395509-6DF4-A872-7195-68D9BE99F09C}"/>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Rounded Corners 109">
              <a:extLst>
                <a:ext uri="{FF2B5EF4-FFF2-40B4-BE49-F238E27FC236}">
                  <a16:creationId xmlns:a16="http://schemas.microsoft.com/office/drawing/2014/main" id="{496B6289-0458-DD98-B1DC-F2263E2BB937}"/>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26BD83D-77F0-E6CF-CEBE-1FC75004269D}"/>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97098E6E-AA71-C5FF-68B6-B90EB9C86F5A}"/>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C061659-087E-7E2F-7341-409A903C466C}"/>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20E33033-C464-1872-CAE7-EEE3CCEA5B6A}"/>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Tree>
    <p:extLst>
      <p:ext uri="{BB962C8B-B14F-4D97-AF65-F5344CB8AC3E}">
        <p14:creationId xmlns:p14="http://schemas.microsoft.com/office/powerpoint/2010/main" val="1790640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7F4205-924B-0F14-A959-A673AFBEE2C0}"/>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218646" y="1350181"/>
            <a:ext cx="1105329" cy="1001782"/>
          </a:xfrm>
          <a:prstGeom prst="ellipse">
            <a:avLst/>
          </a:prstGeom>
        </p:spPr>
      </p:pic>
      <p:pic>
        <p:nvPicPr>
          <p:cNvPr id="7" name="Picture 6">
            <a:extLst>
              <a:ext uri="{FF2B5EF4-FFF2-40B4-BE49-F238E27FC236}">
                <a16:creationId xmlns:a16="http://schemas.microsoft.com/office/drawing/2014/main" id="{20B2A5CD-D31F-D74D-6D3F-5CCCC9486832}"/>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218646" y="2560231"/>
            <a:ext cx="1105329" cy="1001782"/>
          </a:xfrm>
          <a:prstGeom prst="ellipse">
            <a:avLst/>
          </a:prstGeom>
        </p:spPr>
      </p:pic>
      <p:pic>
        <p:nvPicPr>
          <p:cNvPr id="9" name="Picture 8">
            <a:extLst>
              <a:ext uri="{FF2B5EF4-FFF2-40B4-BE49-F238E27FC236}">
                <a16:creationId xmlns:a16="http://schemas.microsoft.com/office/drawing/2014/main" id="{D3EB2952-AA61-5F18-4481-389B9274B213}"/>
              </a:ext>
            </a:extLst>
          </p:cNvPr>
          <p:cNvPicPr>
            <a:picLocks noChangeAspect="1"/>
          </p:cNvPicPr>
          <p:nvPr/>
        </p:nvPicPr>
        <p:blipFill>
          <a:blip r:embed="rId4" cstate="print">
            <a:extLst>
              <a:ext uri="{28A0092B-C50C-407E-A947-70E740481C1C}">
                <a14:useLocalDpi xmlns:a14="http://schemas.microsoft.com/office/drawing/2010/main" val="0"/>
              </a:ext>
            </a:extLst>
          </a:blip>
          <a:srcRect t="16013" b="16013"/>
          <a:stretch/>
        </p:blipFill>
        <p:spPr>
          <a:xfrm>
            <a:off x="236117" y="3646372"/>
            <a:ext cx="1227466" cy="1201312"/>
          </a:xfrm>
          <a:prstGeom prst="ellipse">
            <a:avLst/>
          </a:prstGeom>
          <a:ln w="19050">
            <a:solidFill>
              <a:schemeClr val="accent6">
                <a:lumMod val="60000"/>
                <a:lumOff val="40000"/>
              </a:schemeClr>
            </a:solidFill>
          </a:ln>
        </p:spPr>
      </p:pic>
      <p:pic>
        <p:nvPicPr>
          <p:cNvPr id="13" name="Picture 12">
            <a:extLst>
              <a:ext uri="{FF2B5EF4-FFF2-40B4-BE49-F238E27FC236}">
                <a16:creationId xmlns:a16="http://schemas.microsoft.com/office/drawing/2014/main" id="{0FC74D8A-D96D-78F2-5875-B7762520ACEB}"/>
              </a:ext>
            </a:extLst>
          </p:cNvPr>
          <p:cNvPicPr>
            <a:picLocks noChangeAspect="1"/>
          </p:cNvPicPr>
          <p:nvPr/>
        </p:nvPicPr>
        <p:blipFill>
          <a:blip r:embed="rId5" cstate="print">
            <a:extLst>
              <a:ext uri="{28A0092B-C50C-407E-A947-70E740481C1C}">
                <a14:useLocalDpi xmlns:a14="http://schemas.microsoft.com/office/drawing/2010/main" val="0"/>
              </a:ext>
            </a:extLst>
          </a:blip>
          <a:srcRect t="16013" b="16013"/>
          <a:stretch/>
        </p:blipFill>
        <p:spPr>
          <a:xfrm>
            <a:off x="236117" y="4967117"/>
            <a:ext cx="1087858" cy="985948"/>
          </a:xfrm>
          <a:prstGeom prst="ellipse">
            <a:avLst/>
          </a:prstGeom>
        </p:spPr>
      </p:pic>
      <p:sp>
        <p:nvSpPr>
          <p:cNvPr id="16" name="TextBox 15">
            <a:extLst>
              <a:ext uri="{FF2B5EF4-FFF2-40B4-BE49-F238E27FC236}">
                <a16:creationId xmlns:a16="http://schemas.microsoft.com/office/drawing/2014/main" id="{CC7C1A16-50F3-FDF4-7E75-7DC7EFFDCE77}"/>
              </a:ext>
            </a:extLst>
          </p:cNvPr>
          <p:cNvSpPr txBox="1"/>
          <p:nvPr/>
        </p:nvSpPr>
        <p:spPr>
          <a:xfrm>
            <a:off x="1602105" y="1338885"/>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F6B234E2-51F8-0202-1229-42ABC1CEDBC3}"/>
              </a:ext>
            </a:extLst>
          </p:cNvPr>
          <p:cNvSpPr txBox="1"/>
          <p:nvPr/>
        </p:nvSpPr>
        <p:spPr>
          <a:xfrm>
            <a:off x="1602105" y="181184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8" name="TextBox 17">
            <a:extLst>
              <a:ext uri="{FF2B5EF4-FFF2-40B4-BE49-F238E27FC236}">
                <a16:creationId xmlns:a16="http://schemas.microsoft.com/office/drawing/2014/main" id="{C84E19C6-C733-2237-1091-16B2118AA63C}"/>
              </a:ext>
            </a:extLst>
          </p:cNvPr>
          <p:cNvSpPr txBox="1"/>
          <p:nvPr/>
        </p:nvSpPr>
        <p:spPr>
          <a:xfrm>
            <a:off x="1602105" y="255051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a:t>
            </a:r>
            <a:r>
              <a:rPr lang="en-ZA" sz="2400" dirty="0" err="1">
                <a:effectLst/>
                <a:latin typeface="Calibri" panose="020F0502020204030204" pitchFamily="34" charset="0"/>
                <a:ea typeface="Calibri" panose="020F0502020204030204" pitchFamily="34" charset="0"/>
                <a:cs typeface="Times New Roman" panose="02020603050405020304" pitchFamily="18" charset="0"/>
              </a:rPr>
              <a:t>Sityi</a:t>
            </a:r>
            <a:endParaRPr lang="en-US" dirty="0"/>
          </a:p>
        </p:txBody>
      </p:sp>
      <p:sp>
        <p:nvSpPr>
          <p:cNvPr id="19" name="TextBox 18">
            <a:extLst>
              <a:ext uri="{FF2B5EF4-FFF2-40B4-BE49-F238E27FC236}">
                <a16:creationId xmlns:a16="http://schemas.microsoft.com/office/drawing/2014/main" id="{4F1A3F2E-EBFD-5B67-0056-194D000ABD65}"/>
              </a:ext>
            </a:extLst>
          </p:cNvPr>
          <p:cNvSpPr txBox="1"/>
          <p:nvPr/>
        </p:nvSpPr>
        <p:spPr>
          <a:xfrm>
            <a:off x="1602105" y="301217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0" name="TextBox 19">
            <a:extLst>
              <a:ext uri="{FF2B5EF4-FFF2-40B4-BE49-F238E27FC236}">
                <a16:creationId xmlns:a16="http://schemas.microsoft.com/office/drawing/2014/main" id="{26C6A91A-9485-D1A9-E064-B21F6397927B}"/>
              </a:ext>
            </a:extLst>
          </p:cNvPr>
          <p:cNvSpPr txBox="1"/>
          <p:nvPr/>
        </p:nvSpPr>
        <p:spPr>
          <a:xfrm>
            <a:off x="1602105" y="3750839"/>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21" name="TextBox 20">
            <a:extLst>
              <a:ext uri="{FF2B5EF4-FFF2-40B4-BE49-F238E27FC236}">
                <a16:creationId xmlns:a16="http://schemas.microsoft.com/office/drawing/2014/main" id="{CF23AEDD-8AE3-C98F-78C9-BD777ED94E61}"/>
              </a:ext>
            </a:extLst>
          </p:cNvPr>
          <p:cNvSpPr txBox="1"/>
          <p:nvPr/>
        </p:nvSpPr>
        <p:spPr>
          <a:xfrm>
            <a:off x="1602105" y="4212504"/>
            <a:ext cx="1842868" cy="276999"/>
          </a:xfrm>
          <a:prstGeom prst="rect">
            <a:avLst/>
          </a:prstGeom>
          <a:noFill/>
        </p:spPr>
        <p:txBody>
          <a:bodyPr wrap="square" rtlCol="0">
            <a:spAutoFit/>
          </a:bodyPr>
          <a:lstStyle/>
          <a:p>
            <a:r>
              <a:rPr lang="en-GB" sz="1200" dirty="0">
                <a:latin typeface="Aparajita" panose="020B0502040204020203" pitchFamily="18" charset="0"/>
                <a:cs typeface="Aparajita" panose="020B0502040204020203" pitchFamily="18" charset="0"/>
              </a:rPr>
              <a:t>Project Manager/ UX design</a:t>
            </a:r>
          </a:p>
        </p:txBody>
      </p:sp>
      <p:sp>
        <p:nvSpPr>
          <p:cNvPr id="22" name="TextBox 21">
            <a:extLst>
              <a:ext uri="{FF2B5EF4-FFF2-40B4-BE49-F238E27FC236}">
                <a16:creationId xmlns:a16="http://schemas.microsoft.com/office/drawing/2014/main" id="{9FB1BC02-92EB-2B9F-20D2-7F2B81B7F4DD}"/>
              </a:ext>
            </a:extLst>
          </p:cNvPr>
          <p:cNvSpPr txBox="1"/>
          <p:nvPr/>
        </p:nvSpPr>
        <p:spPr>
          <a:xfrm>
            <a:off x="1602105" y="4951168"/>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23" name="TextBox 22">
            <a:extLst>
              <a:ext uri="{FF2B5EF4-FFF2-40B4-BE49-F238E27FC236}">
                <a16:creationId xmlns:a16="http://schemas.microsoft.com/office/drawing/2014/main" id="{CB706224-29D9-ECF3-0197-04243588C86B}"/>
              </a:ext>
            </a:extLst>
          </p:cNvPr>
          <p:cNvSpPr txBox="1"/>
          <p:nvPr/>
        </p:nvSpPr>
        <p:spPr>
          <a:xfrm>
            <a:off x="1602105" y="5412833"/>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8" name="Oval 7">
            <a:extLst>
              <a:ext uri="{FF2B5EF4-FFF2-40B4-BE49-F238E27FC236}">
                <a16:creationId xmlns:a16="http://schemas.microsoft.com/office/drawing/2014/main" id="{F236F180-32D6-7E81-5E72-CEAC974CE481}"/>
              </a:ext>
            </a:extLst>
          </p:cNvPr>
          <p:cNvSpPr/>
          <p:nvPr/>
        </p:nvSpPr>
        <p:spPr>
          <a:xfrm>
            <a:off x="5642796" y="-2792926"/>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ox with wires connected to it&#10;&#10;Description automatically generated">
            <a:extLst>
              <a:ext uri="{FF2B5EF4-FFF2-40B4-BE49-F238E27FC236}">
                <a16:creationId xmlns:a16="http://schemas.microsoft.com/office/drawing/2014/main" id="{78B6E365-C0F6-FB69-E83A-C85753FE6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71335" y="2128326"/>
            <a:ext cx="5712172" cy="5712172"/>
          </a:xfrm>
          <a:prstGeom prst="rect">
            <a:avLst/>
          </a:prstGeom>
        </p:spPr>
      </p:pic>
      <p:pic>
        <p:nvPicPr>
          <p:cNvPr id="4" name="Picture 3" descr="A person in a white shirt&#10;&#10;Description automatically generated">
            <a:extLst>
              <a:ext uri="{FF2B5EF4-FFF2-40B4-BE49-F238E27FC236}">
                <a16:creationId xmlns:a16="http://schemas.microsoft.com/office/drawing/2014/main" id="{008B600D-E80F-C73F-7F8B-523CFB5F7835}"/>
              </a:ext>
            </a:extLst>
          </p:cNvPr>
          <p:cNvPicPr>
            <a:picLocks noChangeAspect="1"/>
          </p:cNvPicPr>
          <p:nvPr/>
        </p:nvPicPr>
        <p:blipFill>
          <a:blip r:embed="rId7" cstate="print">
            <a:extLst>
              <a:ext uri="{28A0092B-C50C-407E-A947-70E740481C1C}">
                <a14:useLocalDpi xmlns:a14="http://schemas.microsoft.com/office/drawing/2010/main" val="0"/>
              </a:ext>
            </a:extLst>
          </a:blip>
          <a:srcRect r="30959" b="18310"/>
          <a:stretch/>
        </p:blipFill>
        <p:spPr>
          <a:xfrm>
            <a:off x="254289" y="139700"/>
            <a:ext cx="1188463" cy="1128196"/>
          </a:xfrm>
          <a:prstGeom prst="ellipse">
            <a:avLst/>
          </a:prstGeom>
          <a:ln w="28575">
            <a:solidFill>
              <a:schemeClr val="accent6">
                <a:lumMod val="75000"/>
              </a:schemeClr>
            </a:solidFill>
          </a:ln>
        </p:spPr>
      </p:pic>
      <p:sp>
        <p:nvSpPr>
          <p:cNvPr id="14" name="TextBox 13">
            <a:extLst>
              <a:ext uri="{FF2B5EF4-FFF2-40B4-BE49-F238E27FC236}">
                <a16:creationId xmlns:a16="http://schemas.microsoft.com/office/drawing/2014/main" id="{53C059B6-F6A7-B921-0814-C3B3D35F5EAE}"/>
              </a:ext>
            </a:extLst>
          </p:cNvPr>
          <p:cNvSpPr txBox="1"/>
          <p:nvPr/>
        </p:nvSpPr>
        <p:spPr>
          <a:xfrm>
            <a:off x="1602105" y="13970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15" name="TextBox 14">
            <a:extLst>
              <a:ext uri="{FF2B5EF4-FFF2-40B4-BE49-F238E27FC236}">
                <a16:creationId xmlns:a16="http://schemas.microsoft.com/office/drawing/2014/main" id="{4DDD4A9E-80B5-7F13-741C-F1E5FF5F542E}"/>
              </a:ext>
            </a:extLst>
          </p:cNvPr>
          <p:cNvSpPr txBox="1"/>
          <p:nvPr/>
        </p:nvSpPr>
        <p:spPr>
          <a:xfrm>
            <a:off x="1602105" y="60136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18" name="TextBox 117">
            <a:extLst>
              <a:ext uri="{FF2B5EF4-FFF2-40B4-BE49-F238E27FC236}">
                <a16:creationId xmlns:a16="http://schemas.microsoft.com/office/drawing/2014/main" id="{F17F6C1A-D867-4217-0AF6-89EFF81D8B15}"/>
              </a:ext>
            </a:extLst>
          </p:cNvPr>
          <p:cNvSpPr txBox="1"/>
          <p:nvPr/>
        </p:nvSpPr>
        <p:spPr>
          <a:xfrm>
            <a:off x="6902245" y="265471"/>
            <a:ext cx="3687650" cy="523220"/>
          </a:xfrm>
          <a:prstGeom prst="rect">
            <a:avLst/>
          </a:prstGeom>
          <a:noFill/>
        </p:spPr>
        <p:txBody>
          <a:bodyPr wrap="square" rtlCol="0">
            <a:spAutoFit/>
          </a:bodyPr>
          <a:lstStyle/>
          <a:p>
            <a:r>
              <a:rPr lang="en-GB" sz="2800" dirty="0"/>
              <a:t>ROLES:</a:t>
            </a:r>
            <a:endParaRPr lang="en-US" sz="2800" dirty="0"/>
          </a:p>
        </p:txBody>
      </p:sp>
      <p:sp>
        <p:nvSpPr>
          <p:cNvPr id="119" name="TextBox 118">
            <a:extLst>
              <a:ext uri="{FF2B5EF4-FFF2-40B4-BE49-F238E27FC236}">
                <a16:creationId xmlns:a16="http://schemas.microsoft.com/office/drawing/2014/main" id="{B24CC4D2-AA37-7CCA-F7DB-56D0E7AAA791}"/>
              </a:ext>
            </a:extLst>
          </p:cNvPr>
          <p:cNvSpPr txBox="1"/>
          <p:nvPr/>
        </p:nvSpPr>
        <p:spPr>
          <a:xfrm>
            <a:off x="6902245" y="1267896"/>
            <a:ext cx="4994711" cy="2585323"/>
          </a:xfrm>
          <a:prstGeom prst="rect">
            <a:avLst/>
          </a:prstGeom>
          <a:noFill/>
        </p:spPr>
        <p:txBody>
          <a:bodyPr wrap="square" rtlCol="0">
            <a:spAutoFit/>
          </a:bodyPr>
          <a:lstStyle/>
          <a:p>
            <a:r>
              <a:rPr lang="en-GB" dirty="0"/>
              <a:t>Define the project scope, objectives, and deliverables based on stakeholder requirements.</a:t>
            </a:r>
          </a:p>
          <a:p>
            <a:endParaRPr lang="en-GB" dirty="0"/>
          </a:p>
          <a:p>
            <a:pPr lvl="0"/>
            <a:r>
              <a:rPr lang="en-GB" dirty="0"/>
              <a:t>Organize and lead the project team, ensuring each member understands their roles and responsibilities.</a:t>
            </a:r>
          </a:p>
          <a:p>
            <a:pPr lvl="0"/>
            <a:endParaRPr lang="en-US" dirty="0"/>
          </a:p>
          <a:p>
            <a:pPr lvl="0"/>
            <a:r>
              <a:rPr lang="en-GB" dirty="0"/>
              <a:t>Act as the primary point of contact between the team and stakeholders.</a:t>
            </a:r>
            <a:endParaRPr lang="en-US" dirty="0"/>
          </a:p>
        </p:txBody>
      </p:sp>
      <p:pic>
        <p:nvPicPr>
          <p:cNvPr id="121" name="Picture 120" descr="A purple hexagon with a white letter c and a hashtag&#10;&#10;Description automatically generated">
            <a:extLst>
              <a:ext uri="{FF2B5EF4-FFF2-40B4-BE49-F238E27FC236}">
                <a16:creationId xmlns:a16="http://schemas.microsoft.com/office/drawing/2014/main" id="{AAD5A7B5-9593-4E13-AF2A-9FDA0D252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4696" y="5943163"/>
            <a:ext cx="904935" cy="904935"/>
          </a:xfrm>
          <a:prstGeom prst="rect">
            <a:avLst/>
          </a:prstGeom>
        </p:spPr>
      </p:pic>
      <p:pic>
        <p:nvPicPr>
          <p:cNvPr id="123" name="Picture 122">
            <a:extLst>
              <a:ext uri="{FF2B5EF4-FFF2-40B4-BE49-F238E27FC236}">
                <a16:creationId xmlns:a16="http://schemas.microsoft.com/office/drawing/2014/main" id="{4D1F11EB-2911-31BE-CE72-5837F0015A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57263" y="6106478"/>
            <a:ext cx="465874" cy="481403"/>
          </a:xfrm>
          <a:prstGeom prst="rect">
            <a:avLst/>
          </a:prstGeom>
        </p:spPr>
      </p:pic>
      <p:pic>
        <p:nvPicPr>
          <p:cNvPr id="125" name="Picture 124" descr="A logo of a coffee cup&#10;&#10;Description automatically generated">
            <a:extLst>
              <a:ext uri="{FF2B5EF4-FFF2-40B4-BE49-F238E27FC236}">
                <a16:creationId xmlns:a16="http://schemas.microsoft.com/office/drawing/2014/main" id="{AA570C7A-34F9-22B1-C692-A2177694DC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91397" y="6035278"/>
            <a:ext cx="603064" cy="603064"/>
          </a:xfrm>
          <a:prstGeom prst="rect">
            <a:avLst/>
          </a:prstGeom>
        </p:spPr>
      </p:pic>
      <p:pic>
        <p:nvPicPr>
          <p:cNvPr id="127" name="Picture 126" descr="A blue cylinder with black text&#10;&#10;Description automatically generated">
            <a:extLst>
              <a:ext uri="{FF2B5EF4-FFF2-40B4-BE49-F238E27FC236}">
                <a16:creationId xmlns:a16="http://schemas.microsoft.com/office/drawing/2014/main" id="{F2E68C27-E8C1-5E9D-54EF-C1227C62DF9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39342" y="6117492"/>
            <a:ext cx="603064" cy="603064"/>
          </a:xfrm>
          <a:prstGeom prst="rect">
            <a:avLst/>
          </a:prstGeom>
        </p:spPr>
      </p:pic>
      <p:grpSp>
        <p:nvGrpSpPr>
          <p:cNvPr id="117" name="Group 116">
            <a:extLst>
              <a:ext uri="{FF2B5EF4-FFF2-40B4-BE49-F238E27FC236}">
                <a16:creationId xmlns:a16="http://schemas.microsoft.com/office/drawing/2014/main" id="{EB32F203-CACA-F389-6C40-3CC3551A3159}"/>
              </a:ext>
            </a:extLst>
          </p:cNvPr>
          <p:cNvGrpSpPr/>
          <p:nvPr/>
        </p:nvGrpSpPr>
        <p:grpSpPr>
          <a:xfrm>
            <a:off x="-1490303" y="-1593085"/>
            <a:ext cx="6843080" cy="21110904"/>
            <a:chOff x="-1549230" y="-5173191"/>
            <a:chExt cx="6843080" cy="21110904"/>
          </a:xfrm>
        </p:grpSpPr>
        <p:sp>
          <p:nvSpPr>
            <p:cNvPr id="116" name="Freeform: Shape 115">
              <a:extLst>
                <a:ext uri="{FF2B5EF4-FFF2-40B4-BE49-F238E27FC236}">
                  <a16:creationId xmlns:a16="http://schemas.microsoft.com/office/drawing/2014/main" id="{AD822BDB-2538-4D12-68CE-FBEC5E4BF819}"/>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BB42C665-C236-E07E-526D-C9155CBD67D9}"/>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170DA5EE-16A7-67A6-A9F5-D69663398FB1}"/>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C46899DB-8495-31AD-D0E1-E5DA795D42B8}"/>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E548B82-4BF1-7995-FB24-DF4720C45232}"/>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5CC5FBE-6504-D68C-37F5-0528365ABFC1}"/>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9BCC196-91BE-A6E0-8547-FD9D7707F41A}"/>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0988562-1E3B-6ED5-7933-7A08E117B374}"/>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310875DC-4C04-3D0F-0919-A7FE5BF24EA2}"/>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3AB984B2-E047-1D52-9D5B-6BB8F4235B8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1BB0944-09EC-3706-8682-2250C89E9233}"/>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474DA1A4-6E12-DC94-BDC8-04C6B679C498}"/>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A8E6EBF0-AA5B-E9CD-495C-92155E709A47}"/>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75122D-9114-C711-8651-9AC2A450F43C}"/>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E847CFA-DF97-65A7-E61A-099E93499ED4}"/>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D937E43B-E532-DE74-5031-1881845BAEE2}"/>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D2CC8F3-6BDD-B364-192C-6946C52E74F4}"/>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F19E2D14-F404-058D-EBC1-3CE8AB09BCD8}"/>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1EC27456-5030-A2DA-CA62-713BC945A383}"/>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39F3B7A-39FD-C26E-3F8C-6A8B0EBC0D97}"/>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56270C93-6D58-B25C-CFBD-BCC54A261AD1}"/>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FC90350-155B-49BE-40B5-1C4199F300F3}"/>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44753B1-36E9-9CB4-58C5-81BD30EB392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BC031C03-451F-F9EF-B038-1C1D8A005D63}"/>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EA657875-DE63-F2F8-CF03-F6D543396EE1}"/>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3983985-E5C3-B45B-EF8C-78BF56AC824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0CFA42EE-36E8-BBA4-E5C1-F250B7AB8D85}"/>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5D20B6CD-0A13-3C7C-C90D-2EA88FD065EE}"/>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88395509-6DF4-A872-7195-68D9BE99F09C}"/>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Rounded Corners 109">
              <a:extLst>
                <a:ext uri="{FF2B5EF4-FFF2-40B4-BE49-F238E27FC236}">
                  <a16:creationId xmlns:a16="http://schemas.microsoft.com/office/drawing/2014/main" id="{496B6289-0458-DD98-B1DC-F2263E2BB937}"/>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26BD83D-77F0-E6CF-CEBE-1FC75004269D}"/>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97098E6E-AA71-C5FF-68B6-B90EB9C86F5A}"/>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C061659-087E-7E2F-7341-409A903C466C}"/>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20E33033-C464-1872-CAE7-EEE3CCEA5B6A}"/>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Tree>
    <p:extLst>
      <p:ext uri="{BB962C8B-B14F-4D97-AF65-F5344CB8AC3E}">
        <p14:creationId xmlns:p14="http://schemas.microsoft.com/office/powerpoint/2010/main" val="2287196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7F4205-924B-0F14-A959-A673AFBEE2C0}"/>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218646" y="1350181"/>
            <a:ext cx="1105329" cy="1001782"/>
          </a:xfrm>
          <a:prstGeom prst="ellipse">
            <a:avLst/>
          </a:prstGeom>
        </p:spPr>
      </p:pic>
      <p:pic>
        <p:nvPicPr>
          <p:cNvPr id="7" name="Picture 6">
            <a:extLst>
              <a:ext uri="{FF2B5EF4-FFF2-40B4-BE49-F238E27FC236}">
                <a16:creationId xmlns:a16="http://schemas.microsoft.com/office/drawing/2014/main" id="{20B2A5CD-D31F-D74D-6D3F-5CCCC9486832}"/>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218646" y="2560231"/>
            <a:ext cx="1105329" cy="1001782"/>
          </a:xfrm>
          <a:prstGeom prst="ellipse">
            <a:avLst/>
          </a:prstGeom>
        </p:spPr>
      </p:pic>
      <p:pic>
        <p:nvPicPr>
          <p:cNvPr id="9" name="Picture 8" descr="A person in a white shirt&#10;&#10;Description automatically generated">
            <a:extLst>
              <a:ext uri="{FF2B5EF4-FFF2-40B4-BE49-F238E27FC236}">
                <a16:creationId xmlns:a16="http://schemas.microsoft.com/office/drawing/2014/main" id="{D3EB2952-AA61-5F18-4481-389B9274B213}"/>
              </a:ext>
            </a:extLst>
          </p:cNvPr>
          <p:cNvPicPr>
            <a:picLocks noChangeAspect="1"/>
          </p:cNvPicPr>
          <p:nvPr/>
        </p:nvPicPr>
        <p:blipFill>
          <a:blip r:embed="rId4" cstate="print">
            <a:extLst>
              <a:ext uri="{28A0092B-C50C-407E-A947-70E740481C1C}">
                <a14:useLocalDpi xmlns:a14="http://schemas.microsoft.com/office/drawing/2010/main" val="0"/>
              </a:ext>
            </a:extLst>
          </a:blip>
          <a:srcRect r="30959" b="18310"/>
          <a:stretch/>
        </p:blipFill>
        <p:spPr>
          <a:xfrm>
            <a:off x="236117" y="3770281"/>
            <a:ext cx="1090749" cy="988568"/>
          </a:xfrm>
          <a:prstGeom prst="ellipse">
            <a:avLst/>
          </a:prstGeom>
        </p:spPr>
      </p:pic>
      <p:pic>
        <p:nvPicPr>
          <p:cNvPr id="13" name="Picture 12">
            <a:extLst>
              <a:ext uri="{FF2B5EF4-FFF2-40B4-BE49-F238E27FC236}">
                <a16:creationId xmlns:a16="http://schemas.microsoft.com/office/drawing/2014/main" id="{0FC74D8A-D96D-78F2-5875-B7762520ACEB}"/>
              </a:ext>
            </a:extLst>
          </p:cNvPr>
          <p:cNvPicPr>
            <a:picLocks noChangeAspect="1"/>
          </p:cNvPicPr>
          <p:nvPr/>
        </p:nvPicPr>
        <p:blipFill>
          <a:blip r:embed="rId5" cstate="print">
            <a:extLst>
              <a:ext uri="{28A0092B-C50C-407E-A947-70E740481C1C}">
                <a14:useLocalDpi xmlns:a14="http://schemas.microsoft.com/office/drawing/2010/main" val="0"/>
              </a:ext>
            </a:extLst>
          </a:blip>
          <a:srcRect t="16013" b="16013"/>
          <a:stretch/>
        </p:blipFill>
        <p:spPr>
          <a:xfrm>
            <a:off x="236117" y="4967117"/>
            <a:ext cx="1087858" cy="985948"/>
          </a:xfrm>
          <a:prstGeom prst="ellipse">
            <a:avLst/>
          </a:prstGeom>
        </p:spPr>
      </p:pic>
      <p:sp>
        <p:nvSpPr>
          <p:cNvPr id="16" name="TextBox 15">
            <a:extLst>
              <a:ext uri="{FF2B5EF4-FFF2-40B4-BE49-F238E27FC236}">
                <a16:creationId xmlns:a16="http://schemas.microsoft.com/office/drawing/2014/main" id="{CC7C1A16-50F3-FDF4-7E75-7DC7EFFDCE77}"/>
              </a:ext>
            </a:extLst>
          </p:cNvPr>
          <p:cNvSpPr txBox="1"/>
          <p:nvPr/>
        </p:nvSpPr>
        <p:spPr>
          <a:xfrm>
            <a:off x="1602105" y="1338885"/>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F6B234E2-51F8-0202-1229-42ABC1CEDBC3}"/>
              </a:ext>
            </a:extLst>
          </p:cNvPr>
          <p:cNvSpPr txBox="1"/>
          <p:nvPr/>
        </p:nvSpPr>
        <p:spPr>
          <a:xfrm>
            <a:off x="1602105" y="181184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8" name="TextBox 17">
            <a:extLst>
              <a:ext uri="{FF2B5EF4-FFF2-40B4-BE49-F238E27FC236}">
                <a16:creationId xmlns:a16="http://schemas.microsoft.com/office/drawing/2014/main" id="{C84E19C6-C733-2237-1091-16B2118AA63C}"/>
              </a:ext>
            </a:extLst>
          </p:cNvPr>
          <p:cNvSpPr txBox="1"/>
          <p:nvPr/>
        </p:nvSpPr>
        <p:spPr>
          <a:xfrm>
            <a:off x="1602105" y="255051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a:t>
            </a:r>
            <a:r>
              <a:rPr lang="en-ZA" sz="2400" dirty="0" err="1">
                <a:effectLst/>
                <a:latin typeface="Calibri" panose="020F0502020204030204" pitchFamily="34" charset="0"/>
                <a:ea typeface="Calibri" panose="020F0502020204030204" pitchFamily="34" charset="0"/>
                <a:cs typeface="Times New Roman" panose="02020603050405020304" pitchFamily="18" charset="0"/>
              </a:rPr>
              <a:t>Sityi</a:t>
            </a:r>
            <a:endParaRPr lang="en-US" dirty="0"/>
          </a:p>
        </p:txBody>
      </p:sp>
      <p:sp>
        <p:nvSpPr>
          <p:cNvPr id="19" name="TextBox 18">
            <a:extLst>
              <a:ext uri="{FF2B5EF4-FFF2-40B4-BE49-F238E27FC236}">
                <a16:creationId xmlns:a16="http://schemas.microsoft.com/office/drawing/2014/main" id="{4F1A3F2E-EBFD-5B67-0056-194D000ABD65}"/>
              </a:ext>
            </a:extLst>
          </p:cNvPr>
          <p:cNvSpPr txBox="1"/>
          <p:nvPr/>
        </p:nvSpPr>
        <p:spPr>
          <a:xfrm>
            <a:off x="1602105" y="301217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0" name="TextBox 19">
            <a:extLst>
              <a:ext uri="{FF2B5EF4-FFF2-40B4-BE49-F238E27FC236}">
                <a16:creationId xmlns:a16="http://schemas.microsoft.com/office/drawing/2014/main" id="{26C6A91A-9485-D1A9-E064-B21F6397927B}"/>
              </a:ext>
            </a:extLst>
          </p:cNvPr>
          <p:cNvSpPr txBox="1"/>
          <p:nvPr/>
        </p:nvSpPr>
        <p:spPr>
          <a:xfrm>
            <a:off x="1602105" y="3750839"/>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21" name="TextBox 20">
            <a:extLst>
              <a:ext uri="{FF2B5EF4-FFF2-40B4-BE49-F238E27FC236}">
                <a16:creationId xmlns:a16="http://schemas.microsoft.com/office/drawing/2014/main" id="{CF23AEDD-8AE3-C98F-78C9-BD777ED94E61}"/>
              </a:ext>
            </a:extLst>
          </p:cNvPr>
          <p:cNvSpPr txBox="1"/>
          <p:nvPr/>
        </p:nvSpPr>
        <p:spPr>
          <a:xfrm>
            <a:off x="1602105" y="4212504"/>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22" name="TextBox 21">
            <a:extLst>
              <a:ext uri="{FF2B5EF4-FFF2-40B4-BE49-F238E27FC236}">
                <a16:creationId xmlns:a16="http://schemas.microsoft.com/office/drawing/2014/main" id="{9FB1BC02-92EB-2B9F-20D2-7F2B81B7F4DD}"/>
              </a:ext>
            </a:extLst>
          </p:cNvPr>
          <p:cNvSpPr txBox="1"/>
          <p:nvPr/>
        </p:nvSpPr>
        <p:spPr>
          <a:xfrm>
            <a:off x="1602105" y="4951168"/>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23" name="TextBox 22">
            <a:extLst>
              <a:ext uri="{FF2B5EF4-FFF2-40B4-BE49-F238E27FC236}">
                <a16:creationId xmlns:a16="http://schemas.microsoft.com/office/drawing/2014/main" id="{CB706224-29D9-ECF3-0197-04243588C86B}"/>
              </a:ext>
            </a:extLst>
          </p:cNvPr>
          <p:cNvSpPr txBox="1"/>
          <p:nvPr/>
        </p:nvSpPr>
        <p:spPr>
          <a:xfrm>
            <a:off x="1602105" y="5412833"/>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Quality Assurance </a:t>
            </a:r>
            <a:endParaRPr lang="en-GB" sz="1200" dirty="0">
              <a:latin typeface="Aparajita" panose="020B0502040204020203" pitchFamily="18" charset="0"/>
              <a:cs typeface="Aparajita" panose="020B0502040204020203" pitchFamily="18" charset="0"/>
            </a:endParaRPr>
          </a:p>
        </p:txBody>
      </p:sp>
      <p:sp>
        <p:nvSpPr>
          <p:cNvPr id="8" name="Oval 7">
            <a:extLst>
              <a:ext uri="{FF2B5EF4-FFF2-40B4-BE49-F238E27FC236}">
                <a16:creationId xmlns:a16="http://schemas.microsoft.com/office/drawing/2014/main" id="{F236F180-32D6-7E81-5E72-CEAC974CE481}"/>
              </a:ext>
            </a:extLst>
          </p:cNvPr>
          <p:cNvSpPr/>
          <p:nvPr/>
        </p:nvSpPr>
        <p:spPr>
          <a:xfrm>
            <a:off x="5642796" y="-2792926"/>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box with wires connected to it&#10;&#10;Description automatically generated">
            <a:extLst>
              <a:ext uri="{FF2B5EF4-FFF2-40B4-BE49-F238E27FC236}">
                <a16:creationId xmlns:a16="http://schemas.microsoft.com/office/drawing/2014/main" id="{78B6E365-C0F6-FB69-E83A-C85753FE6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557674" y="4293005"/>
            <a:ext cx="5712172" cy="5712172"/>
          </a:xfrm>
          <a:prstGeom prst="rect">
            <a:avLst/>
          </a:prstGeom>
        </p:spPr>
      </p:pic>
      <p:pic>
        <p:nvPicPr>
          <p:cNvPr id="4" name="Picture 3" descr="A person in a white shirt&#10;&#10;Description automatically generated">
            <a:extLst>
              <a:ext uri="{FF2B5EF4-FFF2-40B4-BE49-F238E27FC236}">
                <a16:creationId xmlns:a16="http://schemas.microsoft.com/office/drawing/2014/main" id="{008B600D-E80F-C73F-7F8B-523CFB5F7835}"/>
              </a:ext>
            </a:extLst>
          </p:cNvPr>
          <p:cNvPicPr>
            <a:picLocks noChangeAspect="1"/>
          </p:cNvPicPr>
          <p:nvPr/>
        </p:nvPicPr>
        <p:blipFill>
          <a:blip r:embed="rId7" cstate="print">
            <a:extLst>
              <a:ext uri="{28A0092B-C50C-407E-A947-70E740481C1C}">
                <a14:useLocalDpi xmlns:a14="http://schemas.microsoft.com/office/drawing/2010/main" val="0"/>
              </a:ext>
            </a:extLst>
          </a:blip>
          <a:srcRect r="30959" b="18310"/>
          <a:stretch/>
        </p:blipFill>
        <p:spPr>
          <a:xfrm>
            <a:off x="254289" y="139700"/>
            <a:ext cx="1188463" cy="1128196"/>
          </a:xfrm>
          <a:prstGeom prst="ellipse">
            <a:avLst/>
          </a:prstGeom>
          <a:ln w="28575">
            <a:solidFill>
              <a:schemeClr val="accent6">
                <a:lumMod val="75000"/>
              </a:schemeClr>
            </a:solidFill>
          </a:ln>
        </p:spPr>
      </p:pic>
      <p:sp>
        <p:nvSpPr>
          <p:cNvPr id="14" name="TextBox 13">
            <a:extLst>
              <a:ext uri="{FF2B5EF4-FFF2-40B4-BE49-F238E27FC236}">
                <a16:creationId xmlns:a16="http://schemas.microsoft.com/office/drawing/2014/main" id="{53C059B6-F6A7-B921-0814-C3B3D35F5EAE}"/>
              </a:ext>
            </a:extLst>
          </p:cNvPr>
          <p:cNvSpPr txBox="1"/>
          <p:nvPr/>
        </p:nvSpPr>
        <p:spPr>
          <a:xfrm>
            <a:off x="1602105" y="139700"/>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15" name="TextBox 14">
            <a:extLst>
              <a:ext uri="{FF2B5EF4-FFF2-40B4-BE49-F238E27FC236}">
                <a16:creationId xmlns:a16="http://schemas.microsoft.com/office/drawing/2014/main" id="{4DDD4A9E-80B5-7F13-741C-F1E5FF5F542E}"/>
              </a:ext>
            </a:extLst>
          </p:cNvPr>
          <p:cNvSpPr txBox="1"/>
          <p:nvPr/>
        </p:nvSpPr>
        <p:spPr>
          <a:xfrm>
            <a:off x="1602105" y="601365"/>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118" name="TextBox 117">
            <a:extLst>
              <a:ext uri="{FF2B5EF4-FFF2-40B4-BE49-F238E27FC236}">
                <a16:creationId xmlns:a16="http://schemas.microsoft.com/office/drawing/2014/main" id="{F17F6C1A-D867-4217-0AF6-89EFF81D8B15}"/>
              </a:ext>
            </a:extLst>
          </p:cNvPr>
          <p:cNvSpPr txBox="1"/>
          <p:nvPr/>
        </p:nvSpPr>
        <p:spPr>
          <a:xfrm>
            <a:off x="6902245" y="265471"/>
            <a:ext cx="3687650" cy="523220"/>
          </a:xfrm>
          <a:prstGeom prst="rect">
            <a:avLst/>
          </a:prstGeom>
          <a:noFill/>
        </p:spPr>
        <p:txBody>
          <a:bodyPr wrap="square" rtlCol="0">
            <a:spAutoFit/>
          </a:bodyPr>
          <a:lstStyle/>
          <a:p>
            <a:r>
              <a:rPr lang="en-GB" sz="2800" dirty="0"/>
              <a:t>ROLES:</a:t>
            </a:r>
            <a:endParaRPr lang="en-US" sz="2800" dirty="0"/>
          </a:p>
        </p:txBody>
      </p:sp>
      <p:sp>
        <p:nvSpPr>
          <p:cNvPr id="119" name="TextBox 118">
            <a:extLst>
              <a:ext uri="{FF2B5EF4-FFF2-40B4-BE49-F238E27FC236}">
                <a16:creationId xmlns:a16="http://schemas.microsoft.com/office/drawing/2014/main" id="{B24CC4D2-AA37-7CCA-F7DB-56D0E7AAA791}"/>
              </a:ext>
            </a:extLst>
          </p:cNvPr>
          <p:cNvSpPr txBox="1"/>
          <p:nvPr/>
        </p:nvSpPr>
        <p:spPr>
          <a:xfrm>
            <a:off x="6902245" y="1267896"/>
            <a:ext cx="4994711" cy="2031325"/>
          </a:xfrm>
          <a:prstGeom prst="rect">
            <a:avLst/>
          </a:prstGeom>
          <a:noFill/>
        </p:spPr>
        <p:txBody>
          <a:bodyPr wrap="square" rtlCol="0">
            <a:spAutoFit/>
          </a:bodyPr>
          <a:lstStyle/>
          <a:p>
            <a:r>
              <a:rPr lang="en-GB" dirty="0"/>
              <a:t>Ensure that the application is user-friendly and accessible to a diverse audience</a:t>
            </a:r>
          </a:p>
          <a:p>
            <a:endParaRPr lang="en-GB" dirty="0"/>
          </a:p>
          <a:p>
            <a:pPr lvl="0"/>
            <a:r>
              <a:rPr lang="en-GB" dirty="0"/>
              <a:t>Verify each feature works as intended.</a:t>
            </a:r>
          </a:p>
          <a:p>
            <a:pPr lvl="0"/>
            <a:endParaRPr lang="en-US" dirty="0"/>
          </a:p>
          <a:p>
            <a:pPr lvl="0"/>
            <a:r>
              <a:rPr lang="en-GB" dirty="0"/>
              <a:t>Ensure that new changes don’t break existing functionality</a:t>
            </a:r>
            <a:endParaRPr lang="en-US" dirty="0"/>
          </a:p>
        </p:txBody>
      </p:sp>
      <p:pic>
        <p:nvPicPr>
          <p:cNvPr id="121" name="Picture 120" descr="A purple hexagon with a white letter c and a hashtag&#10;&#10;Description automatically generated">
            <a:extLst>
              <a:ext uri="{FF2B5EF4-FFF2-40B4-BE49-F238E27FC236}">
                <a16:creationId xmlns:a16="http://schemas.microsoft.com/office/drawing/2014/main" id="{AAD5A7B5-9593-4E13-AF2A-9FDA0D252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04696" y="5943163"/>
            <a:ext cx="904935" cy="904935"/>
          </a:xfrm>
          <a:prstGeom prst="rect">
            <a:avLst/>
          </a:prstGeom>
        </p:spPr>
      </p:pic>
      <p:pic>
        <p:nvPicPr>
          <p:cNvPr id="123" name="Picture 122">
            <a:extLst>
              <a:ext uri="{FF2B5EF4-FFF2-40B4-BE49-F238E27FC236}">
                <a16:creationId xmlns:a16="http://schemas.microsoft.com/office/drawing/2014/main" id="{4D1F11EB-2911-31BE-CE72-5837F0015A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57263" y="6106478"/>
            <a:ext cx="465874" cy="481403"/>
          </a:xfrm>
          <a:prstGeom prst="rect">
            <a:avLst/>
          </a:prstGeom>
        </p:spPr>
      </p:pic>
      <p:pic>
        <p:nvPicPr>
          <p:cNvPr id="125" name="Picture 124" descr="A logo of a coffee cup&#10;&#10;Description automatically generated">
            <a:extLst>
              <a:ext uri="{FF2B5EF4-FFF2-40B4-BE49-F238E27FC236}">
                <a16:creationId xmlns:a16="http://schemas.microsoft.com/office/drawing/2014/main" id="{AA570C7A-34F9-22B1-C692-A2177694DC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91397" y="6035278"/>
            <a:ext cx="603064" cy="603064"/>
          </a:xfrm>
          <a:prstGeom prst="rect">
            <a:avLst/>
          </a:prstGeom>
        </p:spPr>
      </p:pic>
      <p:pic>
        <p:nvPicPr>
          <p:cNvPr id="127" name="Picture 126" descr="A blue cylinder with black text&#10;&#10;Description automatically generated">
            <a:extLst>
              <a:ext uri="{FF2B5EF4-FFF2-40B4-BE49-F238E27FC236}">
                <a16:creationId xmlns:a16="http://schemas.microsoft.com/office/drawing/2014/main" id="{F2E68C27-E8C1-5E9D-54EF-C1227C62DF9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39342" y="6117492"/>
            <a:ext cx="603064" cy="603064"/>
          </a:xfrm>
          <a:prstGeom prst="rect">
            <a:avLst/>
          </a:prstGeom>
        </p:spPr>
      </p:pic>
      <p:grpSp>
        <p:nvGrpSpPr>
          <p:cNvPr id="117" name="Group 116">
            <a:extLst>
              <a:ext uri="{FF2B5EF4-FFF2-40B4-BE49-F238E27FC236}">
                <a16:creationId xmlns:a16="http://schemas.microsoft.com/office/drawing/2014/main" id="{EB32F203-CACA-F389-6C40-3CC3551A3159}"/>
              </a:ext>
            </a:extLst>
          </p:cNvPr>
          <p:cNvGrpSpPr/>
          <p:nvPr/>
        </p:nvGrpSpPr>
        <p:grpSpPr>
          <a:xfrm>
            <a:off x="-1496042" y="-377860"/>
            <a:ext cx="6843080" cy="21110904"/>
            <a:chOff x="-1549230" y="-5173191"/>
            <a:chExt cx="6843080" cy="21110904"/>
          </a:xfrm>
        </p:grpSpPr>
        <p:sp>
          <p:nvSpPr>
            <p:cNvPr id="116" name="Freeform: Shape 115">
              <a:extLst>
                <a:ext uri="{FF2B5EF4-FFF2-40B4-BE49-F238E27FC236}">
                  <a16:creationId xmlns:a16="http://schemas.microsoft.com/office/drawing/2014/main" id="{AD822BDB-2538-4D12-68CE-FBEC5E4BF819}"/>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BB42C665-C236-E07E-526D-C9155CBD67D9}"/>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170DA5EE-16A7-67A6-A9F5-D69663398FB1}"/>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C46899DB-8495-31AD-D0E1-E5DA795D42B8}"/>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E548B82-4BF1-7995-FB24-DF4720C45232}"/>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35CC5FBE-6504-D68C-37F5-0528365ABFC1}"/>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9BCC196-91BE-A6E0-8547-FD9D7707F41A}"/>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0988562-1E3B-6ED5-7933-7A08E117B374}"/>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310875DC-4C04-3D0F-0919-A7FE5BF24EA2}"/>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3AB984B2-E047-1D52-9D5B-6BB8F4235B8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1BB0944-09EC-3706-8682-2250C89E9233}"/>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id="{474DA1A4-6E12-DC94-BDC8-04C6B679C498}"/>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A8E6EBF0-AA5B-E9CD-495C-92155E709A47}"/>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75122D-9114-C711-8651-9AC2A450F43C}"/>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E847CFA-DF97-65A7-E61A-099E93499ED4}"/>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D937E43B-E532-DE74-5031-1881845BAEE2}"/>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D2CC8F3-6BDD-B364-192C-6946C52E74F4}"/>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F19E2D14-F404-058D-EBC1-3CE8AB09BCD8}"/>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1EC27456-5030-A2DA-CA62-713BC945A383}"/>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39F3B7A-39FD-C26E-3F8C-6A8B0EBC0D97}"/>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56270C93-6D58-B25C-CFBD-BCC54A261AD1}"/>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FC90350-155B-49BE-40B5-1C4199F300F3}"/>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44753B1-36E9-9CB4-58C5-81BD30EB392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Rounded Corners 102">
              <a:extLst>
                <a:ext uri="{FF2B5EF4-FFF2-40B4-BE49-F238E27FC236}">
                  <a16:creationId xmlns:a16="http://schemas.microsoft.com/office/drawing/2014/main" id="{BC031C03-451F-F9EF-B038-1C1D8A005D63}"/>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EA657875-DE63-F2F8-CF03-F6D543396EE1}"/>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93983985-E5C3-B45B-EF8C-78BF56AC824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0CFA42EE-36E8-BBA4-E5C1-F250B7AB8D85}"/>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5D20B6CD-0A13-3C7C-C90D-2EA88FD065EE}"/>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88395509-6DF4-A872-7195-68D9BE99F09C}"/>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Rounded Corners 109">
              <a:extLst>
                <a:ext uri="{FF2B5EF4-FFF2-40B4-BE49-F238E27FC236}">
                  <a16:creationId xmlns:a16="http://schemas.microsoft.com/office/drawing/2014/main" id="{496B6289-0458-DD98-B1DC-F2263E2BB937}"/>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26BD83D-77F0-E6CF-CEBE-1FC75004269D}"/>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97098E6E-AA71-C5FF-68B6-B90EB9C86F5A}"/>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C061659-087E-7E2F-7341-409A903C466C}"/>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20E33033-C464-1872-CAE7-EEE3CCEA5B6A}"/>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
        <p:nvSpPr>
          <p:cNvPr id="2" name="TextBox 4">
            <a:extLst>
              <a:ext uri="{FF2B5EF4-FFF2-40B4-BE49-F238E27FC236}">
                <a16:creationId xmlns:a16="http://schemas.microsoft.com/office/drawing/2014/main" id="{41D0E8E3-B592-43E4-1A6F-F70FC5B04B3F}"/>
              </a:ext>
            </a:extLst>
          </p:cNvPr>
          <p:cNvSpPr txBox="1"/>
          <p:nvPr/>
        </p:nvSpPr>
        <p:spPr>
          <a:xfrm>
            <a:off x="-6092847" y="643622"/>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3" name="TextBox 2">
            <a:extLst>
              <a:ext uri="{FF2B5EF4-FFF2-40B4-BE49-F238E27FC236}">
                <a16:creationId xmlns:a16="http://schemas.microsoft.com/office/drawing/2014/main" id="{5E9ADA86-0560-434A-C0A9-CEB807588970}"/>
              </a:ext>
            </a:extLst>
          </p:cNvPr>
          <p:cNvSpPr txBox="1"/>
          <p:nvPr/>
        </p:nvSpPr>
        <p:spPr>
          <a:xfrm>
            <a:off x="-5280233" y="523936"/>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5" name="TextBox 4">
            <a:extLst>
              <a:ext uri="{FF2B5EF4-FFF2-40B4-BE49-F238E27FC236}">
                <a16:creationId xmlns:a16="http://schemas.microsoft.com/office/drawing/2014/main" id="{BB08705B-9B57-F2A2-6EBF-4113B6CA6FA1}"/>
              </a:ext>
            </a:extLst>
          </p:cNvPr>
          <p:cNvSpPr txBox="1"/>
          <p:nvPr/>
        </p:nvSpPr>
        <p:spPr>
          <a:xfrm>
            <a:off x="-6178880" y="1381041"/>
            <a:ext cx="3010767" cy="954107"/>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Car safety in your own hands</a:t>
            </a:r>
          </a:p>
        </p:txBody>
      </p:sp>
      <p:cxnSp>
        <p:nvCxnSpPr>
          <p:cNvPr id="11" name="Straight Arrow Connector 10">
            <a:extLst>
              <a:ext uri="{FF2B5EF4-FFF2-40B4-BE49-F238E27FC236}">
                <a16:creationId xmlns:a16="http://schemas.microsoft.com/office/drawing/2014/main" id="{101E31D4-5A23-994A-E4FB-AF502A1D6A0C}"/>
              </a:ext>
            </a:extLst>
          </p:cNvPr>
          <p:cNvCxnSpPr/>
          <p:nvPr/>
        </p:nvCxnSpPr>
        <p:spPr>
          <a:xfrm flipV="1">
            <a:off x="-6090211" y="2971432"/>
            <a:ext cx="3004456" cy="32658"/>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12" name="TextBox 11">
            <a:extLst>
              <a:ext uri="{FF2B5EF4-FFF2-40B4-BE49-F238E27FC236}">
                <a16:creationId xmlns:a16="http://schemas.microsoft.com/office/drawing/2014/main" id="{837EB2A0-65B7-9048-C03A-25FDDA3DCD80}"/>
              </a:ext>
            </a:extLst>
          </p:cNvPr>
          <p:cNvSpPr txBox="1"/>
          <p:nvPr/>
        </p:nvSpPr>
        <p:spPr>
          <a:xfrm>
            <a:off x="-6180020" y="2342782"/>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24" name="TextBox 23">
            <a:extLst>
              <a:ext uri="{FF2B5EF4-FFF2-40B4-BE49-F238E27FC236}">
                <a16:creationId xmlns:a16="http://schemas.microsoft.com/office/drawing/2014/main" id="{ACAFDE0D-7DD3-AA39-6EA8-694FC37BD1C5}"/>
              </a:ext>
            </a:extLst>
          </p:cNvPr>
          <p:cNvSpPr txBox="1"/>
          <p:nvPr/>
        </p:nvSpPr>
        <p:spPr>
          <a:xfrm>
            <a:off x="-6185462" y="3369023"/>
            <a:ext cx="30945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CAMS is a vehicle tracking management platform that provides users with real-time data tracking abilities.</a:t>
            </a:r>
          </a:p>
        </p:txBody>
      </p:sp>
      <p:sp>
        <p:nvSpPr>
          <p:cNvPr id="25" name="Rectangle 24">
            <a:extLst>
              <a:ext uri="{FF2B5EF4-FFF2-40B4-BE49-F238E27FC236}">
                <a16:creationId xmlns:a16="http://schemas.microsoft.com/office/drawing/2014/main" id="{93F18A2B-FFA6-A8CD-2D85-A793F2F1E389}"/>
              </a:ext>
            </a:extLst>
          </p:cNvPr>
          <p:cNvSpPr/>
          <p:nvPr/>
        </p:nvSpPr>
        <p:spPr>
          <a:xfrm>
            <a:off x="19989963" y="-59977"/>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588FFBD6-9827-E535-7CC7-3517AEB67ED8}"/>
              </a:ext>
            </a:extLst>
          </p:cNvPr>
          <p:cNvSpPr/>
          <p:nvPr/>
        </p:nvSpPr>
        <p:spPr>
          <a:xfrm>
            <a:off x="22415053" y="1645920"/>
            <a:ext cx="2540000" cy="3759200"/>
          </a:xfrm>
          <a:prstGeom prst="roundRect">
            <a:avLst/>
          </a:prstGeom>
          <a:solidFill>
            <a:srgbClr val="FFFFFF">
              <a:alpha val="49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7" name="Rectangle: Rounded Corners 26">
            <a:extLst>
              <a:ext uri="{FF2B5EF4-FFF2-40B4-BE49-F238E27FC236}">
                <a16:creationId xmlns:a16="http://schemas.microsoft.com/office/drawing/2014/main" id="{9699672D-6B5B-AC69-215C-30DC7022DA32}"/>
              </a:ext>
            </a:extLst>
          </p:cNvPr>
          <p:cNvSpPr/>
          <p:nvPr/>
        </p:nvSpPr>
        <p:spPr>
          <a:xfrm>
            <a:off x="25758021" y="1645920"/>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8" name="Rectangle: Rounded Corners 27">
            <a:extLst>
              <a:ext uri="{FF2B5EF4-FFF2-40B4-BE49-F238E27FC236}">
                <a16:creationId xmlns:a16="http://schemas.microsoft.com/office/drawing/2014/main" id="{B3B77E3A-C3E0-9DAD-8E72-078B31B68D6F}"/>
              </a:ext>
            </a:extLst>
          </p:cNvPr>
          <p:cNvSpPr/>
          <p:nvPr/>
        </p:nvSpPr>
        <p:spPr>
          <a:xfrm>
            <a:off x="19293312" y="1645920"/>
            <a:ext cx="2540000" cy="3759200"/>
          </a:xfrm>
          <a:prstGeom prst="roundRect">
            <a:avLst/>
          </a:prstGeom>
          <a:solidFill>
            <a:schemeClr val="bg1"/>
          </a:solidFill>
          <a:ln>
            <a:noFill/>
          </a:ln>
          <a:effectLst>
            <a:outerShdw blurRad="63500" dist="38100" dir="2700000">
              <a:srgbClr val="000000">
                <a:alpha val="40000"/>
              </a:srgb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1"/>
          </a:p>
        </p:txBody>
      </p:sp>
      <p:pic>
        <p:nvPicPr>
          <p:cNvPr id="29" name="Graphic 28" descr="Marker with solid fill">
            <a:extLst>
              <a:ext uri="{FF2B5EF4-FFF2-40B4-BE49-F238E27FC236}">
                <a16:creationId xmlns:a16="http://schemas.microsoft.com/office/drawing/2014/main" id="{3B2B15C5-4854-F775-39BC-86961BA5D20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097037" y="2583231"/>
            <a:ext cx="914400" cy="914400"/>
          </a:xfrm>
          <a:prstGeom prst="rect">
            <a:avLst/>
          </a:prstGeom>
        </p:spPr>
      </p:pic>
      <p:pic>
        <p:nvPicPr>
          <p:cNvPr id="30" name="Graphic 29" descr="Car with solid fill">
            <a:extLst>
              <a:ext uri="{FF2B5EF4-FFF2-40B4-BE49-F238E27FC236}">
                <a16:creationId xmlns:a16="http://schemas.microsoft.com/office/drawing/2014/main" id="{3F854B71-0C88-6ACC-1350-C0594A0DAD2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0109327" y="3367493"/>
            <a:ext cx="914400" cy="914400"/>
          </a:xfrm>
          <a:prstGeom prst="rect">
            <a:avLst/>
          </a:prstGeom>
        </p:spPr>
      </p:pic>
      <p:sp>
        <p:nvSpPr>
          <p:cNvPr id="31" name="TextBox 30">
            <a:extLst>
              <a:ext uri="{FF2B5EF4-FFF2-40B4-BE49-F238E27FC236}">
                <a16:creationId xmlns:a16="http://schemas.microsoft.com/office/drawing/2014/main" id="{EA12E52F-2BED-0ADC-CB9E-8C35DC37AFA7}"/>
              </a:ext>
            </a:extLst>
          </p:cNvPr>
          <p:cNvSpPr txBox="1"/>
          <p:nvPr/>
        </p:nvSpPr>
        <p:spPr>
          <a:xfrm>
            <a:off x="19571385" y="1814264"/>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Tracking Feature</a:t>
            </a:r>
          </a:p>
        </p:txBody>
      </p:sp>
      <p:sp>
        <p:nvSpPr>
          <p:cNvPr id="32" name="TextBox 31">
            <a:extLst>
              <a:ext uri="{FF2B5EF4-FFF2-40B4-BE49-F238E27FC236}">
                <a16:creationId xmlns:a16="http://schemas.microsoft.com/office/drawing/2014/main" id="{07BCE0FC-0E44-BBE9-8B4D-0595B699F1C1}"/>
              </a:ext>
            </a:extLst>
          </p:cNvPr>
          <p:cNvSpPr txBox="1"/>
          <p:nvPr/>
        </p:nvSpPr>
        <p:spPr>
          <a:xfrm>
            <a:off x="19748873" y="2189152"/>
            <a:ext cx="162232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a:t>
            </a:r>
          </a:p>
        </p:txBody>
      </p:sp>
      <p:pic>
        <p:nvPicPr>
          <p:cNvPr id="33" name="Graphic 32" descr="Rating Star with solid fill">
            <a:extLst>
              <a:ext uri="{FF2B5EF4-FFF2-40B4-BE49-F238E27FC236}">
                <a16:creationId xmlns:a16="http://schemas.microsoft.com/office/drawing/2014/main" id="{2A3BCF89-3252-AA73-920D-419E518C36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102834" y="4276049"/>
            <a:ext cx="914400" cy="914400"/>
          </a:xfrm>
          <a:prstGeom prst="rect">
            <a:avLst/>
          </a:prstGeom>
        </p:spPr>
      </p:pic>
      <p:sp>
        <p:nvSpPr>
          <p:cNvPr id="34" name="Rectangle: Rounded Corners 33">
            <a:extLst>
              <a:ext uri="{FF2B5EF4-FFF2-40B4-BE49-F238E27FC236}">
                <a16:creationId xmlns:a16="http://schemas.microsoft.com/office/drawing/2014/main" id="{EBD15BD0-71C9-EC7D-D95B-4DEC8E65C03B}"/>
              </a:ext>
            </a:extLst>
          </p:cNvPr>
          <p:cNvSpPr/>
          <p:nvPr/>
        </p:nvSpPr>
        <p:spPr>
          <a:xfrm>
            <a:off x="19249862" y="1648254"/>
            <a:ext cx="2540000" cy="3759200"/>
          </a:xfrm>
          <a:prstGeom prst="roundRect">
            <a:avLst/>
          </a:prstGeom>
          <a:solidFill>
            <a:srgbClr val="828282"/>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35" name="Picture 34" descr="A black and white logo&#10;&#10;Description automatically generated">
            <a:extLst>
              <a:ext uri="{FF2B5EF4-FFF2-40B4-BE49-F238E27FC236}">
                <a16:creationId xmlns:a16="http://schemas.microsoft.com/office/drawing/2014/main" id="{91A9F9C9-90E2-A178-0066-A353E27AD2A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9530479" y="3147676"/>
            <a:ext cx="2124071" cy="492784"/>
          </a:xfrm>
          <a:prstGeom prst="rect">
            <a:avLst/>
          </a:prstGeom>
        </p:spPr>
      </p:pic>
      <p:sp>
        <p:nvSpPr>
          <p:cNvPr id="36" name="TextBox 35">
            <a:extLst>
              <a:ext uri="{FF2B5EF4-FFF2-40B4-BE49-F238E27FC236}">
                <a16:creationId xmlns:a16="http://schemas.microsoft.com/office/drawing/2014/main" id="{97A2C576-24D8-3DDD-450A-0AECAB1C85F0}"/>
              </a:ext>
            </a:extLst>
          </p:cNvPr>
          <p:cNvSpPr txBox="1"/>
          <p:nvPr/>
        </p:nvSpPr>
        <p:spPr>
          <a:xfrm>
            <a:off x="19778289" y="1922901"/>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24/7 Support</a:t>
            </a:r>
          </a:p>
        </p:txBody>
      </p:sp>
      <p:sp>
        <p:nvSpPr>
          <p:cNvPr id="37" name="TextBox 36">
            <a:extLst>
              <a:ext uri="{FF2B5EF4-FFF2-40B4-BE49-F238E27FC236}">
                <a16:creationId xmlns:a16="http://schemas.microsoft.com/office/drawing/2014/main" id="{DD3870BD-CC50-09B9-3C05-4C50DDDF3D5D}"/>
              </a:ext>
            </a:extLst>
          </p:cNvPr>
          <p:cNvSpPr txBox="1"/>
          <p:nvPr/>
        </p:nvSpPr>
        <p:spPr>
          <a:xfrm>
            <a:off x="19562486" y="2297790"/>
            <a:ext cx="206477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application/website</a:t>
            </a:r>
          </a:p>
        </p:txBody>
      </p:sp>
    </p:spTree>
    <p:extLst>
      <p:ext uri="{BB962C8B-B14F-4D97-AF65-F5344CB8AC3E}">
        <p14:creationId xmlns:p14="http://schemas.microsoft.com/office/powerpoint/2010/main" val="977240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Oval 122">
            <a:extLst>
              <a:ext uri="{FF2B5EF4-FFF2-40B4-BE49-F238E27FC236}">
                <a16:creationId xmlns:a16="http://schemas.microsoft.com/office/drawing/2014/main" id="{6FAD4106-7C73-1B96-9D00-A3D519EF67DA}"/>
              </a:ext>
            </a:extLst>
          </p:cNvPr>
          <p:cNvSpPr/>
          <p:nvPr/>
        </p:nvSpPr>
        <p:spPr>
          <a:xfrm>
            <a:off x="15694569" y="-2516130"/>
            <a:ext cx="11811000" cy="11887200"/>
          </a:xfrm>
          <a:prstGeom prst="ellipse">
            <a:avLst/>
          </a:prstGeom>
          <a:solidFill>
            <a:srgbClr val="46D259">
              <a:alpha val="72000"/>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26B710-FA16-6274-E907-1BDC6D81AA29}"/>
              </a:ext>
            </a:extLst>
          </p:cNvPr>
          <p:cNvSpPr/>
          <p:nvPr/>
        </p:nvSpPr>
        <p:spPr>
          <a:xfrm>
            <a:off x="6533735" y="0"/>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371847"/>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252161"/>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12" name="Rectangle: Rounded Corners 11">
            <a:extLst>
              <a:ext uri="{FF2B5EF4-FFF2-40B4-BE49-F238E27FC236}">
                <a16:creationId xmlns:a16="http://schemas.microsoft.com/office/drawing/2014/main" id="{7D396B0F-18C7-3458-1686-BE277983C3F6}"/>
              </a:ext>
            </a:extLst>
          </p:cNvPr>
          <p:cNvSpPr/>
          <p:nvPr/>
        </p:nvSpPr>
        <p:spPr>
          <a:xfrm>
            <a:off x="8958825" y="1705897"/>
            <a:ext cx="2540000" cy="3759200"/>
          </a:xfrm>
          <a:prstGeom prst="roundRect">
            <a:avLst/>
          </a:prstGeom>
          <a:solidFill>
            <a:srgbClr val="FFFFFF">
              <a:alpha val="49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4" name="Rectangle: Rounded Corners 13">
            <a:extLst>
              <a:ext uri="{FF2B5EF4-FFF2-40B4-BE49-F238E27FC236}">
                <a16:creationId xmlns:a16="http://schemas.microsoft.com/office/drawing/2014/main" id="{B0146134-D968-A74D-79A2-0D1227D57023}"/>
              </a:ext>
            </a:extLst>
          </p:cNvPr>
          <p:cNvSpPr/>
          <p:nvPr/>
        </p:nvSpPr>
        <p:spPr>
          <a:xfrm>
            <a:off x="12301793" y="1705897"/>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a:extLst>
              <a:ext uri="{FF2B5EF4-FFF2-40B4-BE49-F238E27FC236}">
                <a16:creationId xmlns:a16="http://schemas.microsoft.com/office/drawing/2014/main" id="{1B372C36-BA21-C7A4-B7F9-21CB99F340AE}"/>
              </a:ext>
            </a:extLst>
          </p:cNvPr>
          <p:cNvSpPr txBox="1"/>
          <p:nvPr/>
        </p:nvSpPr>
        <p:spPr>
          <a:xfrm>
            <a:off x="422961" y="1109266"/>
            <a:ext cx="3010767"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Our Client</a:t>
            </a:r>
          </a:p>
        </p:txBody>
      </p:sp>
      <p:cxnSp>
        <p:nvCxnSpPr>
          <p:cNvPr id="5" name="Straight Arrow Connector 4">
            <a:extLst>
              <a:ext uri="{FF2B5EF4-FFF2-40B4-BE49-F238E27FC236}">
                <a16:creationId xmlns:a16="http://schemas.microsoft.com/office/drawing/2014/main" id="{2FF12A9D-9A63-A353-F0E3-125592A56B17}"/>
              </a:ext>
            </a:extLst>
          </p:cNvPr>
          <p:cNvCxnSpPr/>
          <p:nvPr/>
        </p:nvCxnSpPr>
        <p:spPr>
          <a:xfrm flipV="1">
            <a:off x="497875" y="2064424"/>
            <a:ext cx="3004456" cy="32658"/>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4AA9A2F-A30D-9805-492E-9EECA2E075B0}"/>
              </a:ext>
            </a:extLst>
          </p:cNvPr>
          <p:cNvSpPr txBox="1"/>
          <p:nvPr/>
        </p:nvSpPr>
        <p:spPr>
          <a:xfrm>
            <a:off x="410004" y="1694281"/>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9" name="TextBox 8">
            <a:extLst>
              <a:ext uri="{FF2B5EF4-FFF2-40B4-BE49-F238E27FC236}">
                <a16:creationId xmlns:a16="http://schemas.microsoft.com/office/drawing/2014/main" id="{8F486066-66D6-14FF-EBC0-C4FCE46A9C95}"/>
              </a:ext>
            </a:extLst>
          </p:cNvPr>
          <p:cNvSpPr txBox="1"/>
          <p:nvPr/>
        </p:nvSpPr>
        <p:spPr>
          <a:xfrm>
            <a:off x="492686" y="2223155"/>
            <a:ext cx="309452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The company was founded by Archie </a:t>
            </a:r>
            <a:r>
              <a:rPr lang="en-GB" dirty="0" err="1"/>
              <a:t>Mdaka</a:t>
            </a:r>
            <a:r>
              <a:rPr lang="en-GB" dirty="0"/>
              <a:t>, driven by a passion for technology and a desire to create a business in a field he loves. Established in early 2020, the company initially focused on instrumentation services before expanding into vehicle tracking. Known for its customer-focused approach, the company values integrity, innovation, adaptability, accountability, and teamwork.</a:t>
            </a:r>
            <a:endParaRPr lang="en-US" dirty="0"/>
          </a:p>
        </p:txBody>
      </p:sp>
      <p:pic>
        <p:nvPicPr>
          <p:cNvPr id="67" name="Picture 66">
            <a:extLst>
              <a:ext uri="{FF2B5EF4-FFF2-40B4-BE49-F238E27FC236}">
                <a16:creationId xmlns:a16="http://schemas.microsoft.com/office/drawing/2014/main" id="{61FA538B-7486-6A5A-92B3-1B7E3E14ED0C}"/>
              </a:ext>
            </a:extLst>
          </p:cNvPr>
          <p:cNvPicPr>
            <a:picLocks noChangeAspect="1"/>
          </p:cNvPicPr>
          <p:nvPr/>
        </p:nvPicPr>
        <p:blipFill>
          <a:blip r:embed="rId2" cstate="print">
            <a:extLst>
              <a:ext uri="{28A0092B-C50C-407E-A947-70E740481C1C}">
                <a14:useLocalDpi xmlns:a14="http://schemas.microsoft.com/office/drawing/2010/main" val="0"/>
              </a:ext>
            </a:extLst>
          </a:blip>
          <a:srcRect t="4684" b="4684"/>
          <a:stretch/>
        </p:blipFill>
        <p:spPr>
          <a:xfrm>
            <a:off x="986765" y="9117414"/>
            <a:ext cx="1105329" cy="1001782"/>
          </a:xfrm>
          <a:prstGeom prst="ellipse">
            <a:avLst/>
          </a:prstGeom>
        </p:spPr>
      </p:pic>
      <p:pic>
        <p:nvPicPr>
          <p:cNvPr id="68" name="Picture 67">
            <a:extLst>
              <a:ext uri="{FF2B5EF4-FFF2-40B4-BE49-F238E27FC236}">
                <a16:creationId xmlns:a16="http://schemas.microsoft.com/office/drawing/2014/main" id="{59BF92E4-A792-B82A-A9C9-853A76C3B7EA}"/>
              </a:ext>
            </a:extLst>
          </p:cNvPr>
          <p:cNvPicPr>
            <a:picLocks noChangeAspect="1"/>
          </p:cNvPicPr>
          <p:nvPr/>
        </p:nvPicPr>
        <p:blipFill>
          <a:blip r:embed="rId3" cstate="print">
            <a:extLst>
              <a:ext uri="{28A0092B-C50C-407E-A947-70E740481C1C}">
                <a14:useLocalDpi xmlns:a14="http://schemas.microsoft.com/office/drawing/2010/main" val="0"/>
              </a:ext>
            </a:extLst>
          </a:blip>
          <a:srcRect l="-3772" t="28330" r="-2491" b="28330"/>
          <a:stretch/>
        </p:blipFill>
        <p:spPr>
          <a:xfrm>
            <a:off x="986765" y="10327464"/>
            <a:ext cx="1105329" cy="1001782"/>
          </a:xfrm>
          <a:prstGeom prst="ellipse">
            <a:avLst/>
          </a:prstGeom>
        </p:spPr>
      </p:pic>
      <p:pic>
        <p:nvPicPr>
          <p:cNvPr id="69" name="Picture 68" descr="A person in a white shirt&#10;&#10;Description automatically generated">
            <a:extLst>
              <a:ext uri="{FF2B5EF4-FFF2-40B4-BE49-F238E27FC236}">
                <a16:creationId xmlns:a16="http://schemas.microsoft.com/office/drawing/2014/main" id="{81C4147B-FA90-FB5C-9DE3-F424803D426F}"/>
              </a:ext>
            </a:extLst>
          </p:cNvPr>
          <p:cNvPicPr>
            <a:picLocks noChangeAspect="1"/>
          </p:cNvPicPr>
          <p:nvPr/>
        </p:nvPicPr>
        <p:blipFill>
          <a:blip r:embed="rId4" cstate="print">
            <a:extLst>
              <a:ext uri="{28A0092B-C50C-407E-A947-70E740481C1C}">
                <a14:useLocalDpi xmlns:a14="http://schemas.microsoft.com/office/drawing/2010/main" val="0"/>
              </a:ext>
            </a:extLst>
          </a:blip>
          <a:srcRect r="30959" b="18310"/>
          <a:stretch/>
        </p:blipFill>
        <p:spPr>
          <a:xfrm>
            <a:off x="1004236" y="11537514"/>
            <a:ext cx="1090749" cy="988568"/>
          </a:xfrm>
          <a:prstGeom prst="ellipse">
            <a:avLst/>
          </a:prstGeom>
        </p:spPr>
      </p:pic>
      <p:pic>
        <p:nvPicPr>
          <p:cNvPr id="70" name="Picture 69">
            <a:extLst>
              <a:ext uri="{FF2B5EF4-FFF2-40B4-BE49-F238E27FC236}">
                <a16:creationId xmlns:a16="http://schemas.microsoft.com/office/drawing/2014/main" id="{F6F5EAE7-AF08-5E64-A5BA-268354B2899F}"/>
              </a:ext>
            </a:extLst>
          </p:cNvPr>
          <p:cNvPicPr>
            <a:picLocks noChangeAspect="1"/>
          </p:cNvPicPr>
          <p:nvPr/>
        </p:nvPicPr>
        <p:blipFill>
          <a:blip r:embed="rId5" cstate="print">
            <a:extLst>
              <a:ext uri="{28A0092B-C50C-407E-A947-70E740481C1C}">
                <a14:useLocalDpi xmlns:a14="http://schemas.microsoft.com/office/drawing/2010/main" val="0"/>
              </a:ext>
            </a:extLst>
          </a:blip>
          <a:srcRect t="16013" b="16013"/>
          <a:stretch/>
        </p:blipFill>
        <p:spPr>
          <a:xfrm>
            <a:off x="1004236" y="12734350"/>
            <a:ext cx="1087858" cy="985948"/>
          </a:xfrm>
          <a:prstGeom prst="ellipse">
            <a:avLst/>
          </a:prstGeom>
        </p:spPr>
      </p:pic>
      <p:sp>
        <p:nvSpPr>
          <p:cNvPr id="71" name="TextBox 70">
            <a:extLst>
              <a:ext uri="{FF2B5EF4-FFF2-40B4-BE49-F238E27FC236}">
                <a16:creationId xmlns:a16="http://schemas.microsoft.com/office/drawing/2014/main" id="{250D2873-CE11-DE9F-36A3-A0901AF06A8E}"/>
              </a:ext>
            </a:extLst>
          </p:cNvPr>
          <p:cNvSpPr txBox="1"/>
          <p:nvPr/>
        </p:nvSpPr>
        <p:spPr>
          <a:xfrm>
            <a:off x="2370224" y="9106118"/>
            <a:ext cx="3460652" cy="470000"/>
          </a:xfrm>
          <a:prstGeom prst="rect">
            <a:avLst/>
          </a:prstGeom>
          <a:noFill/>
        </p:spPr>
        <p:txBody>
          <a:bodyPr wrap="square" rtlCol="0">
            <a:spAutoFit/>
          </a:bodyPr>
          <a:lstStyle/>
          <a:p>
            <a:pPr marL="0" marR="0">
              <a:lnSpc>
                <a:spcPct val="107000"/>
              </a:lnSpc>
              <a:spcBef>
                <a:spcPts val="0"/>
              </a:spcBef>
              <a:spcAft>
                <a:spcPts val="800"/>
              </a:spcAft>
            </a:pPr>
            <a:r>
              <a:rPr lang="en-ZA" sz="2400" dirty="0">
                <a:effectLst/>
                <a:latin typeface="Calibri" panose="020F0502020204030204" pitchFamily="34" charset="0"/>
                <a:ea typeface="Calibri" panose="020F0502020204030204" pitchFamily="34" charset="0"/>
                <a:cs typeface="Times New Roman" panose="02020603050405020304" pitchFamily="18" charset="0"/>
              </a:rPr>
              <a:t>Tony Mbedzi</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2" name="TextBox 71">
            <a:extLst>
              <a:ext uri="{FF2B5EF4-FFF2-40B4-BE49-F238E27FC236}">
                <a16:creationId xmlns:a16="http://schemas.microsoft.com/office/drawing/2014/main" id="{4330FCF2-EDD8-5C1B-722C-7929B16ED587}"/>
              </a:ext>
            </a:extLst>
          </p:cNvPr>
          <p:cNvSpPr txBox="1"/>
          <p:nvPr/>
        </p:nvSpPr>
        <p:spPr>
          <a:xfrm>
            <a:off x="2370224" y="9579079"/>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73" name="TextBox 72">
            <a:extLst>
              <a:ext uri="{FF2B5EF4-FFF2-40B4-BE49-F238E27FC236}">
                <a16:creationId xmlns:a16="http://schemas.microsoft.com/office/drawing/2014/main" id="{18CF4A19-D4C5-AD07-1BA7-1123C62BCEDC}"/>
              </a:ext>
            </a:extLst>
          </p:cNvPr>
          <p:cNvSpPr txBox="1"/>
          <p:nvPr/>
        </p:nvSpPr>
        <p:spPr>
          <a:xfrm>
            <a:off x="2370224" y="10317743"/>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Katlego </a:t>
            </a:r>
            <a:r>
              <a:rPr lang="en-ZA" sz="2400" dirty="0" err="1">
                <a:effectLst/>
                <a:latin typeface="Calibri" panose="020F0502020204030204" pitchFamily="34" charset="0"/>
                <a:ea typeface="Calibri" panose="020F0502020204030204" pitchFamily="34" charset="0"/>
                <a:cs typeface="Times New Roman" panose="02020603050405020304" pitchFamily="18" charset="0"/>
              </a:rPr>
              <a:t>Sityi</a:t>
            </a:r>
            <a:endParaRPr lang="en-US" dirty="0"/>
          </a:p>
        </p:txBody>
      </p:sp>
      <p:sp>
        <p:nvSpPr>
          <p:cNvPr id="74" name="TextBox 73">
            <a:extLst>
              <a:ext uri="{FF2B5EF4-FFF2-40B4-BE49-F238E27FC236}">
                <a16:creationId xmlns:a16="http://schemas.microsoft.com/office/drawing/2014/main" id="{2CECCD78-0626-D789-9055-CD1000817F2D}"/>
              </a:ext>
            </a:extLst>
          </p:cNvPr>
          <p:cNvSpPr txBox="1"/>
          <p:nvPr/>
        </p:nvSpPr>
        <p:spPr>
          <a:xfrm>
            <a:off x="2370224" y="10779408"/>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75" name="TextBox 74">
            <a:extLst>
              <a:ext uri="{FF2B5EF4-FFF2-40B4-BE49-F238E27FC236}">
                <a16:creationId xmlns:a16="http://schemas.microsoft.com/office/drawing/2014/main" id="{063AD300-298F-4241-A090-10DBFC3EB544}"/>
              </a:ext>
            </a:extLst>
          </p:cNvPr>
          <p:cNvSpPr txBox="1"/>
          <p:nvPr/>
        </p:nvSpPr>
        <p:spPr>
          <a:xfrm>
            <a:off x="2370224" y="11518072"/>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Tshepiso Monama</a:t>
            </a:r>
            <a:endParaRPr lang="en-US" dirty="0"/>
          </a:p>
        </p:txBody>
      </p:sp>
      <p:sp>
        <p:nvSpPr>
          <p:cNvPr id="76" name="TextBox 75">
            <a:extLst>
              <a:ext uri="{FF2B5EF4-FFF2-40B4-BE49-F238E27FC236}">
                <a16:creationId xmlns:a16="http://schemas.microsoft.com/office/drawing/2014/main" id="{E573C315-8706-D4DA-EC56-5E0A2685FBFA}"/>
              </a:ext>
            </a:extLst>
          </p:cNvPr>
          <p:cNvSpPr txBox="1"/>
          <p:nvPr/>
        </p:nvSpPr>
        <p:spPr>
          <a:xfrm>
            <a:off x="2370224" y="11979737"/>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sp>
        <p:nvSpPr>
          <p:cNvPr id="77" name="TextBox 76">
            <a:extLst>
              <a:ext uri="{FF2B5EF4-FFF2-40B4-BE49-F238E27FC236}">
                <a16:creationId xmlns:a16="http://schemas.microsoft.com/office/drawing/2014/main" id="{0946C16A-DFEC-C2AB-D825-0E8AD8D54D55}"/>
              </a:ext>
            </a:extLst>
          </p:cNvPr>
          <p:cNvSpPr txBox="1"/>
          <p:nvPr/>
        </p:nvSpPr>
        <p:spPr>
          <a:xfrm>
            <a:off x="2370224" y="12718401"/>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Oko Mwenzo</a:t>
            </a:r>
            <a:r>
              <a:rPr lang="en-GB" dirty="0"/>
              <a:t> </a:t>
            </a:r>
            <a:endParaRPr lang="en-US" dirty="0"/>
          </a:p>
        </p:txBody>
      </p:sp>
      <p:sp>
        <p:nvSpPr>
          <p:cNvPr id="78" name="TextBox 77">
            <a:extLst>
              <a:ext uri="{FF2B5EF4-FFF2-40B4-BE49-F238E27FC236}">
                <a16:creationId xmlns:a16="http://schemas.microsoft.com/office/drawing/2014/main" id="{DC62AE26-9EBB-0990-8DB1-CF3300FB9FA9}"/>
              </a:ext>
            </a:extLst>
          </p:cNvPr>
          <p:cNvSpPr txBox="1"/>
          <p:nvPr/>
        </p:nvSpPr>
        <p:spPr>
          <a:xfrm>
            <a:off x="2370224" y="13180066"/>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pic>
        <p:nvPicPr>
          <p:cNvPr id="79" name="Picture 78" descr="A person in a white shirt&#10;&#10;Description automatically generated">
            <a:extLst>
              <a:ext uri="{FF2B5EF4-FFF2-40B4-BE49-F238E27FC236}">
                <a16:creationId xmlns:a16="http://schemas.microsoft.com/office/drawing/2014/main" id="{1C958C01-5842-9798-BB59-1B5BA5293EE8}"/>
              </a:ext>
            </a:extLst>
          </p:cNvPr>
          <p:cNvPicPr>
            <a:picLocks noChangeAspect="1"/>
          </p:cNvPicPr>
          <p:nvPr/>
        </p:nvPicPr>
        <p:blipFill>
          <a:blip r:embed="rId6" cstate="print">
            <a:extLst>
              <a:ext uri="{28A0092B-C50C-407E-A947-70E740481C1C}">
                <a14:useLocalDpi xmlns:a14="http://schemas.microsoft.com/office/drawing/2010/main" val="0"/>
              </a:ext>
            </a:extLst>
          </a:blip>
          <a:srcRect r="30959" b="18310"/>
          <a:stretch/>
        </p:blipFill>
        <p:spPr>
          <a:xfrm>
            <a:off x="1022408" y="7906933"/>
            <a:ext cx="1188463" cy="1128196"/>
          </a:xfrm>
          <a:prstGeom prst="ellipse">
            <a:avLst/>
          </a:prstGeom>
          <a:ln w="28575">
            <a:solidFill>
              <a:schemeClr val="accent6">
                <a:lumMod val="75000"/>
              </a:schemeClr>
            </a:solidFill>
          </a:ln>
        </p:spPr>
      </p:pic>
      <p:sp>
        <p:nvSpPr>
          <p:cNvPr id="80" name="TextBox 79">
            <a:extLst>
              <a:ext uri="{FF2B5EF4-FFF2-40B4-BE49-F238E27FC236}">
                <a16:creationId xmlns:a16="http://schemas.microsoft.com/office/drawing/2014/main" id="{4DF9C9FA-DC9E-2237-002B-FEE2F6390CBB}"/>
              </a:ext>
            </a:extLst>
          </p:cNvPr>
          <p:cNvSpPr txBox="1"/>
          <p:nvPr/>
        </p:nvSpPr>
        <p:spPr>
          <a:xfrm>
            <a:off x="2370224" y="7906933"/>
            <a:ext cx="3460652" cy="461665"/>
          </a:xfrm>
          <a:prstGeom prst="rect">
            <a:avLst/>
          </a:prstGeom>
          <a:noFill/>
        </p:spPr>
        <p:txBody>
          <a:bodyPr wrap="square" rtlCol="0">
            <a:spAutoFit/>
          </a:bodyPr>
          <a:lstStyle/>
          <a:p>
            <a:r>
              <a:rPr lang="en-ZA" sz="2400" dirty="0">
                <a:effectLst/>
                <a:latin typeface="Calibri" panose="020F0502020204030204" pitchFamily="34" charset="0"/>
                <a:ea typeface="Calibri" panose="020F0502020204030204" pitchFamily="34" charset="0"/>
                <a:cs typeface="Times New Roman" panose="02020603050405020304" pitchFamily="18" charset="0"/>
              </a:rPr>
              <a:t>Mpumelelo Maswanganye</a:t>
            </a:r>
            <a:r>
              <a:rPr lang="en-GB" dirty="0"/>
              <a:t> </a:t>
            </a:r>
            <a:endParaRPr lang="en-US" dirty="0"/>
          </a:p>
        </p:txBody>
      </p:sp>
      <p:sp>
        <p:nvSpPr>
          <p:cNvPr id="81" name="TextBox 80">
            <a:extLst>
              <a:ext uri="{FF2B5EF4-FFF2-40B4-BE49-F238E27FC236}">
                <a16:creationId xmlns:a16="http://schemas.microsoft.com/office/drawing/2014/main" id="{2A8A9E80-F6ED-617A-03D7-FD4C46EA042F}"/>
              </a:ext>
            </a:extLst>
          </p:cNvPr>
          <p:cNvSpPr txBox="1"/>
          <p:nvPr/>
        </p:nvSpPr>
        <p:spPr>
          <a:xfrm>
            <a:off x="2370224" y="8368598"/>
            <a:ext cx="1842868" cy="276999"/>
          </a:xfrm>
          <a:prstGeom prst="rect">
            <a:avLst/>
          </a:prstGeom>
          <a:noFill/>
        </p:spPr>
        <p:txBody>
          <a:bodyPr wrap="square" rtlCol="0">
            <a:spAutoFit/>
          </a:bodyPr>
          <a:lstStyle/>
          <a:p>
            <a:r>
              <a:rPr lang="en-GB" sz="1200" dirty="0">
                <a:latin typeface="Aparajita" panose="02020603050405020304" pitchFamily="18" charset="0"/>
                <a:cs typeface="Aparajita" panose="02020603050405020304" pitchFamily="18" charset="0"/>
              </a:rPr>
              <a:t>Lead</a:t>
            </a:r>
            <a:r>
              <a:rPr lang="en-GB" sz="1200" dirty="0"/>
              <a:t> </a:t>
            </a:r>
            <a:r>
              <a:rPr lang="en-GB" sz="1200" dirty="0">
                <a:latin typeface="Aparajita" panose="020B0502040204020203" pitchFamily="18" charset="0"/>
                <a:cs typeface="Aparajita" panose="020B0502040204020203" pitchFamily="18" charset="0"/>
              </a:rPr>
              <a:t>Developers</a:t>
            </a:r>
          </a:p>
        </p:txBody>
      </p:sp>
      <p:grpSp>
        <p:nvGrpSpPr>
          <p:cNvPr id="82" name="Group 81">
            <a:extLst>
              <a:ext uri="{FF2B5EF4-FFF2-40B4-BE49-F238E27FC236}">
                <a16:creationId xmlns:a16="http://schemas.microsoft.com/office/drawing/2014/main" id="{F03BB809-629E-E2AF-7EE0-756440CA67B1}"/>
              </a:ext>
            </a:extLst>
          </p:cNvPr>
          <p:cNvGrpSpPr/>
          <p:nvPr/>
        </p:nvGrpSpPr>
        <p:grpSpPr>
          <a:xfrm>
            <a:off x="-727923" y="7389373"/>
            <a:ext cx="6843080" cy="21110904"/>
            <a:chOff x="-1549230" y="-5173191"/>
            <a:chExt cx="6843080" cy="21110904"/>
          </a:xfrm>
        </p:grpSpPr>
        <p:sp>
          <p:nvSpPr>
            <p:cNvPr id="83" name="Freeform: Shape 82">
              <a:extLst>
                <a:ext uri="{FF2B5EF4-FFF2-40B4-BE49-F238E27FC236}">
                  <a16:creationId xmlns:a16="http://schemas.microsoft.com/office/drawing/2014/main" id="{F7648C42-099C-13CD-9B37-E5352ADEFC05}"/>
                </a:ext>
              </a:extLst>
            </p:cNvPr>
            <p:cNvSpPr/>
            <p:nvPr/>
          </p:nvSpPr>
          <p:spPr>
            <a:xfrm>
              <a:off x="-1549230" y="-5173191"/>
              <a:ext cx="6843080" cy="21110904"/>
            </a:xfrm>
            <a:custGeom>
              <a:avLst/>
              <a:gdLst>
                <a:gd name="connsiteX0" fmla="*/ 2287228 w 6843080"/>
                <a:gd name="connsiteY0" fmla="*/ 5276307 h 21110904"/>
                <a:gd name="connsiteX1" fmla="*/ 1728392 w 6843080"/>
                <a:gd name="connsiteY1" fmla="*/ 5731772 h 21110904"/>
                <a:gd name="connsiteX2" fmla="*/ 1716803 w 6843080"/>
                <a:gd name="connsiteY2" fmla="*/ 5846732 h 21110904"/>
                <a:gd name="connsiteX3" fmla="*/ 1716803 w 6843080"/>
                <a:gd name="connsiteY3" fmla="*/ 5846731 h 21110904"/>
                <a:gd name="connsiteX4" fmla="*/ 1716803 w 6843080"/>
                <a:gd name="connsiteY4" fmla="*/ 5846732 h 21110904"/>
                <a:gd name="connsiteX5" fmla="*/ 1716803 w 6843080"/>
                <a:gd name="connsiteY5" fmla="*/ 5846732 h 21110904"/>
                <a:gd name="connsiteX6" fmla="*/ 1728392 w 6843080"/>
                <a:gd name="connsiteY6" fmla="*/ 5961692 h 21110904"/>
                <a:gd name="connsiteX7" fmla="*/ 2287228 w 6843080"/>
                <a:gd name="connsiteY7" fmla="*/ 6417156 h 21110904"/>
                <a:gd name="connsiteX8" fmla="*/ 6134133 w 6843080"/>
                <a:gd name="connsiteY8" fmla="*/ 6417157 h 21110904"/>
                <a:gd name="connsiteX9" fmla="*/ 6704558 w 6843080"/>
                <a:gd name="connsiteY9" fmla="*/ 5846732 h 21110904"/>
                <a:gd name="connsiteX10" fmla="*/ 6704559 w 6843080"/>
                <a:gd name="connsiteY10" fmla="*/ 5846732 h 21110904"/>
                <a:gd name="connsiteX11" fmla="*/ 6134134 w 6843080"/>
                <a:gd name="connsiteY11" fmla="*/ 5276307 h 21110904"/>
                <a:gd name="connsiteX12" fmla="*/ 0 w 6843080"/>
                <a:gd name="connsiteY12" fmla="*/ 0 h 21110904"/>
                <a:gd name="connsiteX13" fmla="*/ 6843080 w 6843080"/>
                <a:gd name="connsiteY13" fmla="*/ 0 h 21110904"/>
                <a:gd name="connsiteX14" fmla="*/ 6843080 w 6843080"/>
                <a:gd name="connsiteY14" fmla="*/ 21110904 h 21110904"/>
                <a:gd name="connsiteX15" fmla="*/ 0 w 6843080"/>
                <a:gd name="connsiteY15" fmla="*/ 21110904 h 211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43080" h="21110904">
                  <a:moveTo>
                    <a:pt x="2287228" y="5276307"/>
                  </a:moveTo>
                  <a:cubicBezTo>
                    <a:pt x="2011571" y="5276307"/>
                    <a:pt x="1781582" y="5471839"/>
                    <a:pt x="1728392" y="5731772"/>
                  </a:cubicBezTo>
                  <a:lnTo>
                    <a:pt x="1716803" y="5846732"/>
                  </a:lnTo>
                  <a:lnTo>
                    <a:pt x="1716803" y="5846731"/>
                  </a:lnTo>
                  <a:lnTo>
                    <a:pt x="1716803" y="5846732"/>
                  </a:lnTo>
                  <a:lnTo>
                    <a:pt x="1716803" y="5846732"/>
                  </a:lnTo>
                  <a:lnTo>
                    <a:pt x="1728392" y="5961692"/>
                  </a:lnTo>
                  <a:cubicBezTo>
                    <a:pt x="1781582" y="6221625"/>
                    <a:pt x="2011571" y="6417156"/>
                    <a:pt x="2287228" y="6417156"/>
                  </a:cubicBezTo>
                  <a:lnTo>
                    <a:pt x="6134133" y="6417157"/>
                  </a:lnTo>
                  <a:cubicBezTo>
                    <a:pt x="6449170" y="6417157"/>
                    <a:pt x="6704558" y="6161769"/>
                    <a:pt x="6704558" y="5846732"/>
                  </a:cubicBezTo>
                  <a:lnTo>
                    <a:pt x="6704559" y="5846732"/>
                  </a:lnTo>
                  <a:cubicBezTo>
                    <a:pt x="6704559" y="5531695"/>
                    <a:pt x="6449171" y="5276307"/>
                    <a:pt x="6134134" y="5276307"/>
                  </a:cubicBezTo>
                  <a:close/>
                  <a:moveTo>
                    <a:pt x="0" y="0"/>
                  </a:moveTo>
                  <a:lnTo>
                    <a:pt x="6843080" y="0"/>
                  </a:lnTo>
                  <a:lnTo>
                    <a:pt x="6843080" y="21110904"/>
                  </a:lnTo>
                  <a:lnTo>
                    <a:pt x="0" y="21110904"/>
                  </a:lnTo>
                  <a:close/>
                </a:path>
              </a:pathLst>
            </a:custGeom>
            <a:solidFill>
              <a:schemeClr val="tx1"/>
            </a:solidFill>
            <a:ln>
              <a:solidFill>
                <a:srgbClr val="59595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Oval 83">
              <a:extLst>
                <a:ext uri="{FF2B5EF4-FFF2-40B4-BE49-F238E27FC236}">
                  <a16:creationId xmlns:a16="http://schemas.microsoft.com/office/drawing/2014/main" id="{B666372F-DF3B-7583-F86F-A4AFC46F516C}"/>
                </a:ext>
              </a:extLst>
            </p:cNvPr>
            <p:cNvSpPr/>
            <p:nvPr/>
          </p:nvSpPr>
          <p:spPr>
            <a:xfrm>
              <a:off x="173071" y="1351978"/>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Rounded Corners 84">
              <a:extLst>
                <a:ext uri="{FF2B5EF4-FFF2-40B4-BE49-F238E27FC236}">
                  <a16:creationId xmlns:a16="http://schemas.microsoft.com/office/drawing/2014/main" id="{0B1E9E71-AF31-30C0-5117-069431C9DB7E}"/>
                </a:ext>
              </a:extLst>
            </p:cNvPr>
            <p:cNvSpPr/>
            <p:nvPr/>
          </p:nvSpPr>
          <p:spPr>
            <a:xfrm>
              <a:off x="1614205" y="1446964"/>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A7F89DFC-E4DC-E27B-9FE4-D7209044778B}"/>
                </a:ext>
              </a:extLst>
            </p:cNvPr>
            <p:cNvSpPr/>
            <p:nvPr/>
          </p:nvSpPr>
          <p:spPr>
            <a:xfrm>
              <a:off x="1653593" y="1864492"/>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6569207-B3A2-A7AB-F319-B7D206929421}"/>
                </a:ext>
              </a:extLst>
            </p:cNvPr>
            <p:cNvSpPr/>
            <p:nvPr/>
          </p:nvSpPr>
          <p:spPr>
            <a:xfrm>
              <a:off x="195362" y="253834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1981932F-A3CA-B595-5F8D-67F53787D284}"/>
                </a:ext>
              </a:extLst>
            </p:cNvPr>
            <p:cNvSpPr/>
            <p:nvPr/>
          </p:nvSpPr>
          <p:spPr>
            <a:xfrm>
              <a:off x="1578821" y="2633330"/>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B916B9FD-CA2A-82E6-4361-2AB8EA4D04BB}"/>
                </a:ext>
              </a:extLst>
            </p:cNvPr>
            <p:cNvSpPr/>
            <p:nvPr/>
          </p:nvSpPr>
          <p:spPr>
            <a:xfrm>
              <a:off x="1618208" y="3050858"/>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9FEFC73D-A517-638A-6713-D22DA0A71FB5}"/>
                </a:ext>
              </a:extLst>
            </p:cNvPr>
            <p:cNvSpPr/>
            <p:nvPr/>
          </p:nvSpPr>
          <p:spPr>
            <a:xfrm>
              <a:off x="236117" y="3743406"/>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Rounded Corners 90">
              <a:extLst>
                <a:ext uri="{FF2B5EF4-FFF2-40B4-BE49-F238E27FC236}">
                  <a16:creationId xmlns:a16="http://schemas.microsoft.com/office/drawing/2014/main" id="{B78CFEA0-0631-8EC5-51C6-EED769B85136}"/>
                </a:ext>
              </a:extLst>
            </p:cNvPr>
            <p:cNvSpPr/>
            <p:nvPr/>
          </p:nvSpPr>
          <p:spPr>
            <a:xfrm>
              <a:off x="1553376" y="381078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62B79877-0FF0-6C1E-5D72-A6A5E9F0475A}"/>
                </a:ext>
              </a:extLst>
            </p:cNvPr>
            <p:cNvSpPr/>
            <p:nvPr/>
          </p:nvSpPr>
          <p:spPr>
            <a:xfrm>
              <a:off x="1592763" y="4228310"/>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87C1C21A-476D-72BA-5E1C-84E9D36A74FF}"/>
                </a:ext>
              </a:extLst>
            </p:cNvPr>
            <p:cNvSpPr/>
            <p:nvPr/>
          </p:nvSpPr>
          <p:spPr>
            <a:xfrm>
              <a:off x="218646" y="495116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16CFEAAE-AB3E-0811-11FA-A24E8E78FA40}"/>
                </a:ext>
              </a:extLst>
            </p:cNvPr>
            <p:cNvSpPr/>
            <p:nvPr/>
          </p:nvSpPr>
          <p:spPr>
            <a:xfrm>
              <a:off x="1535905" y="501854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C1141A5E-B42D-75A8-6994-328AA83B7F13}"/>
                </a:ext>
              </a:extLst>
            </p:cNvPr>
            <p:cNvSpPr/>
            <p:nvPr/>
          </p:nvSpPr>
          <p:spPr>
            <a:xfrm>
              <a:off x="1575292" y="543607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02324F42-68A3-15EA-4315-38CDDA1A1A13}"/>
                </a:ext>
              </a:extLst>
            </p:cNvPr>
            <p:cNvSpPr/>
            <p:nvPr/>
          </p:nvSpPr>
          <p:spPr>
            <a:xfrm>
              <a:off x="206545" y="6088214"/>
              <a:ext cx="1163005" cy="1001782"/>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EEB577FB-46BC-AF8D-1FE4-1E5ACA0DA751}"/>
                </a:ext>
              </a:extLst>
            </p:cNvPr>
            <p:cNvSpPr/>
            <p:nvPr/>
          </p:nvSpPr>
          <p:spPr>
            <a:xfrm>
              <a:off x="1647679" y="6183200"/>
              <a:ext cx="3437653"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0A6B69E2-378B-744E-D039-9264226CA30B}"/>
                </a:ext>
              </a:extLst>
            </p:cNvPr>
            <p:cNvSpPr/>
            <p:nvPr/>
          </p:nvSpPr>
          <p:spPr>
            <a:xfrm>
              <a:off x="1687067" y="6600728"/>
              <a:ext cx="909662" cy="175300"/>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10F9964-390A-CC32-F622-740BADB379D6}"/>
                </a:ext>
              </a:extLst>
            </p:cNvPr>
            <p:cNvSpPr/>
            <p:nvPr/>
          </p:nvSpPr>
          <p:spPr>
            <a:xfrm>
              <a:off x="167573" y="7288032"/>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325F685C-1C86-E07B-CE5D-559699941150}"/>
                </a:ext>
              </a:extLst>
            </p:cNvPr>
            <p:cNvSpPr/>
            <p:nvPr/>
          </p:nvSpPr>
          <p:spPr>
            <a:xfrm>
              <a:off x="1551032" y="738301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97EEF1B7-CCA1-72B3-D6BE-DD62AB8D7A2B}"/>
                </a:ext>
              </a:extLst>
            </p:cNvPr>
            <p:cNvSpPr/>
            <p:nvPr/>
          </p:nvSpPr>
          <p:spPr>
            <a:xfrm>
              <a:off x="1590419" y="7800546"/>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A0A78958-A49B-23A9-8D2B-2E80036733D4}"/>
                </a:ext>
              </a:extLst>
            </p:cNvPr>
            <p:cNvSpPr/>
            <p:nvPr/>
          </p:nvSpPr>
          <p:spPr>
            <a:xfrm>
              <a:off x="188198" y="851247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Rounded Corners 102">
              <a:extLst>
                <a:ext uri="{FF2B5EF4-FFF2-40B4-BE49-F238E27FC236}">
                  <a16:creationId xmlns:a16="http://schemas.microsoft.com/office/drawing/2014/main" id="{2010BB22-C960-44BD-F815-162900C1EE69}"/>
                </a:ext>
              </a:extLst>
            </p:cNvPr>
            <p:cNvSpPr/>
            <p:nvPr/>
          </p:nvSpPr>
          <p:spPr>
            <a:xfrm>
              <a:off x="1505457" y="8579854"/>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62CB421B-B99D-46B7-665B-E3E268417047}"/>
                </a:ext>
              </a:extLst>
            </p:cNvPr>
            <p:cNvSpPr/>
            <p:nvPr/>
          </p:nvSpPr>
          <p:spPr>
            <a:xfrm>
              <a:off x="1544844" y="8997382"/>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CBFDBA2-D73C-9313-D312-06C8685B6C77}"/>
                </a:ext>
              </a:extLst>
            </p:cNvPr>
            <p:cNvSpPr/>
            <p:nvPr/>
          </p:nvSpPr>
          <p:spPr>
            <a:xfrm>
              <a:off x="228953" y="9706001"/>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Rounded Corners 105">
              <a:extLst>
                <a:ext uri="{FF2B5EF4-FFF2-40B4-BE49-F238E27FC236}">
                  <a16:creationId xmlns:a16="http://schemas.microsoft.com/office/drawing/2014/main" id="{190FC102-9FB5-B1A6-ADD4-61919AF10C58}"/>
                </a:ext>
              </a:extLst>
            </p:cNvPr>
            <p:cNvSpPr/>
            <p:nvPr/>
          </p:nvSpPr>
          <p:spPr>
            <a:xfrm>
              <a:off x="1546212" y="9773377"/>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B9CC09DB-9695-1EEB-5BAA-EB9E509FCED2}"/>
                </a:ext>
              </a:extLst>
            </p:cNvPr>
            <p:cNvSpPr/>
            <p:nvPr/>
          </p:nvSpPr>
          <p:spPr>
            <a:xfrm>
              <a:off x="1585599" y="10190905"/>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A3E7B920-1B67-D7E9-FDEA-9B28756AE11F}"/>
                </a:ext>
              </a:extLst>
            </p:cNvPr>
            <p:cNvSpPr/>
            <p:nvPr/>
          </p:nvSpPr>
          <p:spPr>
            <a:xfrm>
              <a:off x="196653" y="-3656784"/>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Rounded Corners 108">
              <a:extLst>
                <a:ext uri="{FF2B5EF4-FFF2-40B4-BE49-F238E27FC236}">
                  <a16:creationId xmlns:a16="http://schemas.microsoft.com/office/drawing/2014/main" id="{A99FAE1A-2B3A-B89B-44E1-D0F025CA8CBE}"/>
                </a:ext>
              </a:extLst>
            </p:cNvPr>
            <p:cNvSpPr/>
            <p:nvPr/>
          </p:nvSpPr>
          <p:spPr>
            <a:xfrm>
              <a:off x="1580112" y="-3561798"/>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069B6FCF-B045-DF90-56A6-EB97DEB59103}"/>
                </a:ext>
              </a:extLst>
            </p:cNvPr>
            <p:cNvSpPr/>
            <p:nvPr/>
          </p:nvSpPr>
          <p:spPr>
            <a:xfrm>
              <a:off x="217278" y="-2432338"/>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A0CC4AEF-2C74-E2D1-8B08-7A5109281A41}"/>
                </a:ext>
              </a:extLst>
            </p:cNvPr>
            <p:cNvSpPr/>
            <p:nvPr/>
          </p:nvSpPr>
          <p:spPr>
            <a:xfrm>
              <a:off x="1534537" y="-2364962"/>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Rounded Corners 111">
              <a:extLst>
                <a:ext uri="{FF2B5EF4-FFF2-40B4-BE49-F238E27FC236}">
                  <a16:creationId xmlns:a16="http://schemas.microsoft.com/office/drawing/2014/main" id="{B150515D-9F84-5B08-146B-A3CB1809303D}"/>
                </a:ext>
              </a:extLst>
            </p:cNvPr>
            <p:cNvSpPr/>
            <p:nvPr/>
          </p:nvSpPr>
          <p:spPr>
            <a:xfrm>
              <a:off x="1573924" y="-1947434"/>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E31CD1F5-CDAE-48E9-3B3B-7402940A0F29}"/>
                </a:ext>
              </a:extLst>
            </p:cNvPr>
            <p:cNvSpPr/>
            <p:nvPr/>
          </p:nvSpPr>
          <p:spPr>
            <a:xfrm>
              <a:off x="258033" y="-1238815"/>
              <a:ext cx="1150904" cy="1043788"/>
            </a:xfrm>
            <a:prstGeom prst="ellipse">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Rounded Corners 113">
              <a:extLst>
                <a:ext uri="{FF2B5EF4-FFF2-40B4-BE49-F238E27FC236}">
                  <a16:creationId xmlns:a16="http://schemas.microsoft.com/office/drawing/2014/main" id="{F21322F1-8204-1CCD-FBD9-127148C71785}"/>
                </a:ext>
              </a:extLst>
            </p:cNvPr>
            <p:cNvSpPr/>
            <p:nvPr/>
          </p:nvSpPr>
          <p:spPr>
            <a:xfrm>
              <a:off x="1575292" y="-1171439"/>
              <a:ext cx="3495328" cy="363718"/>
            </a:xfrm>
            <a:prstGeom prst="roundRect">
              <a:avLst>
                <a:gd name="adj" fmla="val 49232"/>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Rounded Corners 114">
              <a:extLst>
                <a:ext uri="{FF2B5EF4-FFF2-40B4-BE49-F238E27FC236}">
                  <a16:creationId xmlns:a16="http://schemas.microsoft.com/office/drawing/2014/main" id="{ADB18080-BFFD-414B-197F-10EE19B2CBB8}"/>
                </a:ext>
              </a:extLst>
            </p:cNvPr>
            <p:cNvSpPr/>
            <p:nvPr/>
          </p:nvSpPr>
          <p:spPr>
            <a:xfrm>
              <a:off x="1614679" y="-753911"/>
              <a:ext cx="967338" cy="188554"/>
            </a:xfrm>
            <a:prstGeom prst="roundRect">
              <a:avLst>
                <a:gd name="adj" fmla="val 50000"/>
              </a:avLst>
            </a:prstGeom>
            <a:solidFill>
              <a:schemeClr val="tx1">
                <a:lumMod val="50000"/>
                <a:lumOff val="50000"/>
              </a:schemeClr>
            </a:solidFill>
            <a:ln>
              <a:solidFill>
                <a:schemeClr val="tx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Rounded Corners 115">
              <a:extLst>
                <a:ext uri="{FF2B5EF4-FFF2-40B4-BE49-F238E27FC236}">
                  <a16:creationId xmlns:a16="http://schemas.microsoft.com/office/drawing/2014/main" id="{FE9D36EA-9053-E772-DFB2-EC12F514BB0F}"/>
                </a:ext>
              </a:extLst>
            </p:cNvPr>
            <p:cNvSpPr/>
            <p:nvPr/>
          </p:nvSpPr>
          <p:spPr>
            <a:xfrm>
              <a:off x="167573" y="106836"/>
              <a:ext cx="4987755" cy="1140849"/>
            </a:xfrm>
            <a:prstGeom prst="roundRect">
              <a:avLst>
                <a:gd name="adj" fmla="val 5000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grpSp>
      <p:sp>
        <p:nvSpPr>
          <p:cNvPr id="117" name="TextBox 116">
            <a:extLst>
              <a:ext uri="{FF2B5EF4-FFF2-40B4-BE49-F238E27FC236}">
                <a16:creationId xmlns:a16="http://schemas.microsoft.com/office/drawing/2014/main" id="{A194D1B3-5BA3-36B0-9011-D30100DF2150}"/>
              </a:ext>
            </a:extLst>
          </p:cNvPr>
          <p:cNvSpPr txBox="1"/>
          <p:nvPr/>
        </p:nvSpPr>
        <p:spPr>
          <a:xfrm>
            <a:off x="16819968" y="513771"/>
            <a:ext cx="3687650" cy="523220"/>
          </a:xfrm>
          <a:prstGeom prst="rect">
            <a:avLst/>
          </a:prstGeom>
          <a:noFill/>
        </p:spPr>
        <p:txBody>
          <a:bodyPr wrap="square" rtlCol="0">
            <a:spAutoFit/>
          </a:bodyPr>
          <a:lstStyle/>
          <a:p>
            <a:r>
              <a:rPr lang="en-GB" sz="2800" dirty="0"/>
              <a:t>SKILLS:</a:t>
            </a:r>
            <a:endParaRPr lang="en-US" sz="2800" dirty="0"/>
          </a:p>
        </p:txBody>
      </p:sp>
      <p:sp>
        <p:nvSpPr>
          <p:cNvPr id="118" name="TextBox 117">
            <a:extLst>
              <a:ext uri="{FF2B5EF4-FFF2-40B4-BE49-F238E27FC236}">
                <a16:creationId xmlns:a16="http://schemas.microsoft.com/office/drawing/2014/main" id="{C0956D20-E3B9-BDB8-2285-975113336EE9}"/>
              </a:ext>
            </a:extLst>
          </p:cNvPr>
          <p:cNvSpPr txBox="1"/>
          <p:nvPr/>
        </p:nvSpPr>
        <p:spPr>
          <a:xfrm>
            <a:off x="16819968" y="1516196"/>
            <a:ext cx="4994711" cy="2585323"/>
          </a:xfrm>
          <a:prstGeom prst="rect">
            <a:avLst/>
          </a:prstGeom>
          <a:noFill/>
        </p:spPr>
        <p:txBody>
          <a:bodyPr wrap="square" rtlCol="0">
            <a:spAutoFit/>
          </a:bodyPr>
          <a:lstStyle/>
          <a:p>
            <a:r>
              <a:rPr lang="en-ZA" dirty="0"/>
              <a:t>Makes key technical decisions and guide the development process</a:t>
            </a:r>
          </a:p>
          <a:p>
            <a:endParaRPr lang="en-GB" dirty="0"/>
          </a:p>
          <a:p>
            <a:pPr lvl="0"/>
            <a:r>
              <a:rPr lang="en-ZA" dirty="0"/>
              <a:t>Develop and maintain the server-side logic.</a:t>
            </a:r>
            <a:endParaRPr lang="en-US" dirty="0"/>
          </a:p>
          <a:p>
            <a:pPr lvl="0"/>
            <a:r>
              <a:rPr lang="en-ZA" dirty="0"/>
              <a:t>Design and manage the database.</a:t>
            </a:r>
          </a:p>
          <a:p>
            <a:pPr lvl="0"/>
            <a:endParaRPr lang="en-US" dirty="0"/>
          </a:p>
          <a:p>
            <a:pPr lvl="0"/>
            <a:r>
              <a:rPr lang="en-ZA" dirty="0"/>
              <a:t>Ensure the application is scalable and secure.</a:t>
            </a:r>
            <a:endParaRPr lang="en-US" dirty="0"/>
          </a:p>
          <a:p>
            <a:r>
              <a:rPr lang="en-ZA" dirty="0"/>
              <a:t>Integrate third-party services and APIs as needed.</a:t>
            </a:r>
            <a:endParaRPr lang="en-US" dirty="0"/>
          </a:p>
        </p:txBody>
      </p:sp>
      <p:pic>
        <p:nvPicPr>
          <p:cNvPr id="119" name="Picture 118" descr="A purple hexagon with a white letter c and a hashtag&#10;&#10;Description automatically generated">
            <a:extLst>
              <a:ext uri="{FF2B5EF4-FFF2-40B4-BE49-F238E27FC236}">
                <a16:creationId xmlns:a16="http://schemas.microsoft.com/office/drawing/2014/main" id="{478C53C7-9A63-0EEB-2BF3-919E459D494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622419" y="6191463"/>
            <a:ext cx="904935" cy="904935"/>
          </a:xfrm>
          <a:prstGeom prst="rect">
            <a:avLst/>
          </a:prstGeom>
        </p:spPr>
      </p:pic>
      <p:pic>
        <p:nvPicPr>
          <p:cNvPr id="120" name="Picture 119">
            <a:extLst>
              <a:ext uri="{FF2B5EF4-FFF2-40B4-BE49-F238E27FC236}">
                <a16:creationId xmlns:a16="http://schemas.microsoft.com/office/drawing/2014/main" id="{53216E54-44B5-776E-CA52-978CC1D996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74986" y="6354778"/>
            <a:ext cx="465874" cy="481403"/>
          </a:xfrm>
          <a:prstGeom prst="rect">
            <a:avLst/>
          </a:prstGeom>
        </p:spPr>
      </p:pic>
      <p:pic>
        <p:nvPicPr>
          <p:cNvPr id="121" name="Picture 120" descr="A logo of a coffee cup&#10;&#10;Description automatically generated">
            <a:extLst>
              <a:ext uri="{FF2B5EF4-FFF2-40B4-BE49-F238E27FC236}">
                <a16:creationId xmlns:a16="http://schemas.microsoft.com/office/drawing/2014/main" id="{5C12A700-425C-9BC9-B461-5864CC1146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709120" y="6283578"/>
            <a:ext cx="603064" cy="603064"/>
          </a:xfrm>
          <a:prstGeom prst="rect">
            <a:avLst/>
          </a:prstGeom>
        </p:spPr>
      </p:pic>
      <p:pic>
        <p:nvPicPr>
          <p:cNvPr id="122" name="Picture 121" descr="A blue cylinder with black text&#10;&#10;Description automatically generated">
            <a:extLst>
              <a:ext uri="{FF2B5EF4-FFF2-40B4-BE49-F238E27FC236}">
                <a16:creationId xmlns:a16="http://schemas.microsoft.com/office/drawing/2014/main" id="{E2AD2641-EA3C-1C1C-5C00-3DB69B5C562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557065" y="6365792"/>
            <a:ext cx="603064" cy="603064"/>
          </a:xfrm>
          <a:prstGeom prst="rect">
            <a:avLst/>
          </a:prstGeom>
        </p:spPr>
      </p:pic>
      <p:sp>
        <p:nvSpPr>
          <p:cNvPr id="2" name="Rectangle: Rounded Corners 1">
            <a:extLst>
              <a:ext uri="{FF2B5EF4-FFF2-40B4-BE49-F238E27FC236}">
                <a16:creationId xmlns:a16="http://schemas.microsoft.com/office/drawing/2014/main" id="{0395292D-B938-63E4-C5C4-D596AAD30C9D}"/>
              </a:ext>
            </a:extLst>
          </p:cNvPr>
          <p:cNvSpPr/>
          <p:nvPr/>
        </p:nvSpPr>
        <p:spPr>
          <a:xfrm>
            <a:off x="5856126" y="1710172"/>
            <a:ext cx="2540000" cy="3759200"/>
          </a:xfrm>
          <a:prstGeom prst="roundRect">
            <a:avLst/>
          </a:prstGeom>
          <a:solidFill>
            <a:srgbClr val="828282"/>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3" name="Picture 2" descr="A black and white logo&#10;&#10;Description automatically generated">
            <a:extLst>
              <a:ext uri="{FF2B5EF4-FFF2-40B4-BE49-F238E27FC236}">
                <a16:creationId xmlns:a16="http://schemas.microsoft.com/office/drawing/2014/main" id="{9F1BF243-73AA-6E7A-28D9-C28797B7BC1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96000" y="3181078"/>
            <a:ext cx="2124071" cy="492784"/>
          </a:xfrm>
          <a:prstGeom prst="rect">
            <a:avLst/>
          </a:prstGeom>
        </p:spPr>
      </p:pic>
      <p:sp>
        <p:nvSpPr>
          <p:cNvPr id="19" name="TextBox 18">
            <a:extLst>
              <a:ext uri="{FF2B5EF4-FFF2-40B4-BE49-F238E27FC236}">
                <a16:creationId xmlns:a16="http://schemas.microsoft.com/office/drawing/2014/main" id="{33529CD3-9971-8E3A-285A-0D66243051E1}"/>
              </a:ext>
            </a:extLst>
          </p:cNvPr>
          <p:cNvSpPr txBox="1"/>
          <p:nvPr/>
        </p:nvSpPr>
        <p:spPr>
          <a:xfrm>
            <a:off x="6266568" y="1985176"/>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Asset</a:t>
            </a:r>
            <a:r>
              <a:rPr lang="en-US" b="1" dirty="0"/>
              <a:t> Oversight</a:t>
            </a:r>
          </a:p>
        </p:txBody>
      </p:sp>
      <p:sp>
        <p:nvSpPr>
          <p:cNvPr id="20" name="TextBox 19">
            <a:extLst>
              <a:ext uri="{FF2B5EF4-FFF2-40B4-BE49-F238E27FC236}">
                <a16:creationId xmlns:a16="http://schemas.microsoft.com/office/drawing/2014/main" id="{AE43E4E1-578F-0DCA-71FE-EB8FAFC6DFCB}"/>
              </a:ext>
            </a:extLst>
          </p:cNvPr>
          <p:cNvSpPr txBox="1"/>
          <p:nvPr/>
        </p:nvSpPr>
        <p:spPr>
          <a:xfrm>
            <a:off x="5976636" y="2359708"/>
            <a:ext cx="2124071" cy="2698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Our client</a:t>
            </a:r>
          </a:p>
        </p:txBody>
      </p:sp>
    </p:spTree>
    <p:extLst>
      <p:ext uri="{BB962C8B-B14F-4D97-AF65-F5344CB8AC3E}">
        <p14:creationId xmlns:p14="http://schemas.microsoft.com/office/powerpoint/2010/main" val="2290989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49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6533735" y="0"/>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371847"/>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252161"/>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14" name="Rectangle: Rounded Corners 13">
            <a:extLst>
              <a:ext uri="{FF2B5EF4-FFF2-40B4-BE49-F238E27FC236}">
                <a16:creationId xmlns:a16="http://schemas.microsoft.com/office/drawing/2014/main" id="{B0146134-D968-A74D-79A2-0D1227D57023}"/>
              </a:ext>
            </a:extLst>
          </p:cNvPr>
          <p:cNvSpPr/>
          <p:nvPr/>
        </p:nvSpPr>
        <p:spPr>
          <a:xfrm>
            <a:off x="5400550" y="7808314"/>
            <a:ext cx="2540000" cy="3759200"/>
          </a:xfrm>
          <a:prstGeom prst="roundRect">
            <a:avLst/>
          </a:prstGeom>
          <a:solidFill>
            <a:srgbClr val="828282"/>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a:extLst>
              <a:ext uri="{FF2B5EF4-FFF2-40B4-BE49-F238E27FC236}">
                <a16:creationId xmlns:a16="http://schemas.microsoft.com/office/drawing/2014/main" id="{1B372C36-BA21-C7A4-B7F9-21CB99F340AE}"/>
              </a:ext>
            </a:extLst>
          </p:cNvPr>
          <p:cNvSpPr txBox="1"/>
          <p:nvPr/>
        </p:nvSpPr>
        <p:spPr>
          <a:xfrm>
            <a:off x="422961" y="1109266"/>
            <a:ext cx="3010767"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Project Scope</a:t>
            </a:r>
          </a:p>
        </p:txBody>
      </p:sp>
      <p:cxnSp>
        <p:nvCxnSpPr>
          <p:cNvPr id="5" name="Straight Arrow Connector 4">
            <a:extLst>
              <a:ext uri="{FF2B5EF4-FFF2-40B4-BE49-F238E27FC236}">
                <a16:creationId xmlns:a16="http://schemas.microsoft.com/office/drawing/2014/main" id="{2FF12A9D-9A63-A353-F0E3-125592A56B17}"/>
              </a:ext>
            </a:extLst>
          </p:cNvPr>
          <p:cNvCxnSpPr/>
          <p:nvPr/>
        </p:nvCxnSpPr>
        <p:spPr>
          <a:xfrm flipV="1">
            <a:off x="508994" y="2566892"/>
            <a:ext cx="3004456" cy="32658"/>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4AA9A2F-A30D-9805-492E-9EECA2E075B0}"/>
              </a:ext>
            </a:extLst>
          </p:cNvPr>
          <p:cNvSpPr txBox="1"/>
          <p:nvPr/>
        </p:nvSpPr>
        <p:spPr>
          <a:xfrm>
            <a:off x="422961" y="1923678"/>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9" name="TextBox 8">
            <a:extLst>
              <a:ext uri="{FF2B5EF4-FFF2-40B4-BE49-F238E27FC236}">
                <a16:creationId xmlns:a16="http://schemas.microsoft.com/office/drawing/2014/main" id="{8F486066-66D6-14FF-EBC0-C4FCE46A9C95}"/>
              </a:ext>
            </a:extLst>
          </p:cNvPr>
          <p:cNvSpPr txBox="1"/>
          <p:nvPr/>
        </p:nvSpPr>
        <p:spPr>
          <a:xfrm>
            <a:off x="418924" y="2884986"/>
            <a:ext cx="309452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Our Project</a:t>
            </a:r>
            <a:r>
              <a:rPr lang="en-GB" dirty="0"/>
              <a:t> aims to develop a mobile and web-based vehicle tracking system for Assert Oversight, integrating existing tracking hardware to provide real-time GPS tracking and alerts for improved vehicle security and monitoring.</a:t>
            </a:r>
            <a:endParaRPr lang="en-US" dirty="0"/>
          </a:p>
        </p:txBody>
      </p:sp>
      <p:sp>
        <p:nvSpPr>
          <p:cNvPr id="11" name="Rectangle: Rounded Corners 10">
            <a:extLst>
              <a:ext uri="{FF2B5EF4-FFF2-40B4-BE49-F238E27FC236}">
                <a16:creationId xmlns:a16="http://schemas.microsoft.com/office/drawing/2014/main" id="{2676AD19-2BDB-9168-0061-CDEC75883A78}"/>
              </a:ext>
            </a:extLst>
          </p:cNvPr>
          <p:cNvSpPr/>
          <p:nvPr/>
        </p:nvSpPr>
        <p:spPr>
          <a:xfrm>
            <a:off x="5669314" y="1338435"/>
            <a:ext cx="2540000" cy="3759200"/>
          </a:xfrm>
          <a:prstGeom prst="roundRect">
            <a:avLst/>
          </a:prstGeom>
          <a:solidFill>
            <a:srgbClr val="FFFFFF"/>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15" name="Picture 14" descr="A black and white logo&#10;&#10;Description automatically generated">
            <a:extLst>
              <a:ext uri="{FF2B5EF4-FFF2-40B4-BE49-F238E27FC236}">
                <a16:creationId xmlns:a16="http://schemas.microsoft.com/office/drawing/2014/main" id="{57038327-476B-C5EC-6823-377E6FA94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1167" y="9307736"/>
            <a:ext cx="2124071" cy="492784"/>
          </a:xfrm>
          <a:prstGeom prst="rect">
            <a:avLst/>
          </a:prstGeom>
        </p:spPr>
      </p:pic>
      <p:sp>
        <p:nvSpPr>
          <p:cNvPr id="3" name="TextBox 2">
            <a:extLst>
              <a:ext uri="{FF2B5EF4-FFF2-40B4-BE49-F238E27FC236}">
                <a16:creationId xmlns:a16="http://schemas.microsoft.com/office/drawing/2014/main" id="{649B54DC-B031-DAFB-6EF8-2E7055CA89FC}"/>
              </a:ext>
            </a:extLst>
          </p:cNvPr>
          <p:cNvSpPr txBox="1"/>
          <p:nvPr/>
        </p:nvSpPr>
        <p:spPr>
          <a:xfrm>
            <a:off x="5928977" y="8082961"/>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24/7 Support</a:t>
            </a:r>
          </a:p>
        </p:txBody>
      </p:sp>
      <p:sp>
        <p:nvSpPr>
          <p:cNvPr id="18" name="TextBox 17">
            <a:extLst>
              <a:ext uri="{FF2B5EF4-FFF2-40B4-BE49-F238E27FC236}">
                <a16:creationId xmlns:a16="http://schemas.microsoft.com/office/drawing/2014/main" id="{625EDF2D-5BB7-A551-9F85-A8CD1FB3DE94}"/>
              </a:ext>
            </a:extLst>
          </p:cNvPr>
          <p:cNvSpPr txBox="1"/>
          <p:nvPr/>
        </p:nvSpPr>
        <p:spPr>
          <a:xfrm>
            <a:off x="5713174" y="8457850"/>
            <a:ext cx="206477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application/website</a:t>
            </a:r>
          </a:p>
        </p:txBody>
      </p:sp>
      <p:sp>
        <p:nvSpPr>
          <p:cNvPr id="20" name="Rectangle: Rounded Corners 19">
            <a:extLst>
              <a:ext uri="{FF2B5EF4-FFF2-40B4-BE49-F238E27FC236}">
                <a16:creationId xmlns:a16="http://schemas.microsoft.com/office/drawing/2014/main" id="{BC7649D0-7142-80FC-7043-17612946D47B}"/>
              </a:ext>
            </a:extLst>
          </p:cNvPr>
          <p:cNvSpPr/>
          <p:nvPr/>
        </p:nvSpPr>
        <p:spPr>
          <a:xfrm>
            <a:off x="8929148" y="1354146"/>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1" name="Rectangle: Rounded Corners 20">
            <a:extLst>
              <a:ext uri="{FF2B5EF4-FFF2-40B4-BE49-F238E27FC236}">
                <a16:creationId xmlns:a16="http://schemas.microsoft.com/office/drawing/2014/main" id="{E2AB523D-ADA1-81BC-FF5D-9655BAE66E8A}"/>
              </a:ext>
            </a:extLst>
          </p:cNvPr>
          <p:cNvSpPr/>
          <p:nvPr/>
        </p:nvSpPr>
        <p:spPr>
          <a:xfrm>
            <a:off x="9177579" y="7453024"/>
            <a:ext cx="2540000" cy="3759200"/>
          </a:xfrm>
          <a:prstGeom prst="roundRect">
            <a:avLst/>
          </a:prstGeom>
          <a:solidFill>
            <a:schemeClr val="bg1"/>
          </a:solidFill>
          <a:ln>
            <a:noFill/>
          </a:ln>
          <a:effectLst>
            <a:outerShdw blurRad="63500" dist="38100" dir="2700000">
              <a:srgbClr val="000000">
                <a:alpha val="40000"/>
              </a:srgb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1" dirty="0"/>
          </a:p>
        </p:txBody>
      </p:sp>
      <p:pic>
        <p:nvPicPr>
          <p:cNvPr id="22" name="Graphic 21" descr="Marker with solid fill">
            <a:extLst>
              <a:ext uri="{FF2B5EF4-FFF2-40B4-BE49-F238E27FC236}">
                <a16:creationId xmlns:a16="http://schemas.microsoft.com/office/drawing/2014/main" id="{AC1288B5-E3C2-9367-1106-A2821ECCA8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77646" y="2462219"/>
            <a:ext cx="914400" cy="914400"/>
          </a:xfrm>
          <a:prstGeom prst="rect">
            <a:avLst/>
          </a:prstGeom>
        </p:spPr>
      </p:pic>
      <p:pic>
        <p:nvPicPr>
          <p:cNvPr id="23" name="Graphic 22" descr="Car with solid fill">
            <a:extLst>
              <a:ext uri="{FF2B5EF4-FFF2-40B4-BE49-F238E27FC236}">
                <a16:creationId xmlns:a16="http://schemas.microsoft.com/office/drawing/2014/main" id="{79A8F8A5-3A6B-AE4A-E8B2-D70C9CFC77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9936" y="3246481"/>
            <a:ext cx="914400" cy="914400"/>
          </a:xfrm>
          <a:prstGeom prst="rect">
            <a:avLst/>
          </a:prstGeom>
        </p:spPr>
      </p:pic>
      <p:sp>
        <p:nvSpPr>
          <p:cNvPr id="24" name="TextBox 23">
            <a:extLst>
              <a:ext uri="{FF2B5EF4-FFF2-40B4-BE49-F238E27FC236}">
                <a16:creationId xmlns:a16="http://schemas.microsoft.com/office/drawing/2014/main" id="{435D239B-4B35-65C7-4767-4C664BFCD36E}"/>
              </a:ext>
            </a:extLst>
          </p:cNvPr>
          <p:cNvSpPr txBox="1"/>
          <p:nvPr/>
        </p:nvSpPr>
        <p:spPr>
          <a:xfrm>
            <a:off x="6051994" y="1693252"/>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Tracking Feature</a:t>
            </a:r>
          </a:p>
        </p:txBody>
      </p:sp>
      <p:sp>
        <p:nvSpPr>
          <p:cNvPr id="25" name="TextBox 24">
            <a:extLst>
              <a:ext uri="{FF2B5EF4-FFF2-40B4-BE49-F238E27FC236}">
                <a16:creationId xmlns:a16="http://schemas.microsoft.com/office/drawing/2014/main" id="{B35FF156-BAC0-7667-5DB2-1A3997420E67}"/>
              </a:ext>
            </a:extLst>
          </p:cNvPr>
          <p:cNvSpPr txBox="1"/>
          <p:nvPr/>
        </p:nvSpPr>
        <p:spPr>
          <a:xfrm>
            <a:off x="6229482" y="2068140"/>
            <a:ext cx="162232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a:t>
            </a:r>
          </a:p>
        </p:txBody>
      </p:sp>
      <p:pic>
        <p:nvPicPr>
          <p:cNvPr id="26" name="Graphic 25" descr="Rating Star with solid fill">
            <a:extLst>
              <a:ext uri="{FF2B5EF4-FFF2-40B4-BE49-F238E27FC236}">
                <a16:creationId xmlns:a16="http://schemas.microsoft.com/office/drawing/2014/main" id="{5D5B4B4D-C3EA-A197-6AB3-F4EFF697D3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83443" y="4155037"/>
            <a:ext cx="914400" cy="914400"/>
          </a:xfrm>
          <a:prstGeom prst="rect">
            <a:avLst/>
          </a:prstGeom>
        </p:spPr>
      </p:pic>
    </p:spTree>
    <p:extLst>
      <p:ext uri="{BB962C8B-B14F-4D97-AF65-F5344CB8AC3E}">
        <p14:creationId xmlns:p14="http://schemas.microsoft.com/office/powerpoint/2010/main" val="3771955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6533735" y="0"/>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371847"/>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252161"/>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16" name="TextBox 15">
            <a:extLst>
              <a:ext uri="{FF2B5EF4-FFF2-40B4-BE49-F238E27FC236}">
                <a16:creationId xmlns:a16="http://schemas.microsoft.com/office/drawing/2014/main" id="{1B372C36-BA21-C7A4-B7F9-21CB99F340AE}"/>
              </a:ext>
            </a:extLst>
          </p:cNvPr>
          <p:cNvSpPr txBox="1"/>
          <p:nvPr/>
        </p:nvSpPr>
        <p:spPr>
          <a:xfrm>
            <a:off x="422961" y="1109266"/>
            <a:ext cx="3554853"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Project Statement</a:t>
            </a:r>
          </a:p>
        </p:txBody>
      </p:sp>
      <p:cxnSp>
        <p:nvCxnSpPr>
          <p:cNvPr id="5" name="Straight Arrow Connector 4">
            <a:extLst>
              <a:ext uri="{FF2B5EF4-FFF2-40B4-BE49-F238E27FC236}">
                <a16:creationId xmlns:a16="http://schemas.microsoft.com/office/drawing/2014/main" id="{2FF12A9D-9A63-A353-F0E3-125592A56B17}"/>
              </a:ext>
            </a:extLst>
          </p:cNvPr>
          <p:cNvCxnSpPr/>
          <p:nvPr/>
        </p:nvCxnSpPr>
        <p:spPr>
          <a:xfrm flipV="1">
            <a:off x="515636" y="1986603"/>
            <a:ext cx="3004456" cy="32658"/>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4AA9A2F-A30D-9805-492E-9EECA2E075B0}"/>
              </a:ext>
            </a:extLst>
          </p:cNvPr>
          <p:cNvSpPr txBox="1"/>
          <p:nvPr/>
        </p:nvSpPr>
        <p:spPr>
          <a:xfrm>
            <a:off x="416379" y="1624194"/>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9" name="TextBox 8">
            <a:extLst>
              <a:ext uri="{FF2B5EF4-FFF2-40B4-BE49-F238E27FC236}">
                <a16:creationId xmlns:a16="http://schemas.microsoft.com/office/drawing/2014/main" id="{8F486066-66D6-14FF-EBC0-C4FCE46A9C95}"/>
              </a:ext>
            </a:extLst>
          </p:cNvPr>
          <p:cNvSpPr txBox="1"/>
          <p:nvPr/>
        </p:nvSpPr>
        <p:spPr>
          <a:xfrm>
            <a:off x="416379" y="2235969"/>
            <a:ext cx="309452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The Primary Problem identified in the project plan for the CAMS app is vehicle security, specifically addressing the safety and tracking needs of vehicle owners. The solution aims to help users locate their vehicles in various scenarios, such as when parked in large areas or in the event of theft.</a:t>
            </a:r>
          </a:p>
          <a:p>
            <a:r>
              <a:rPr lang="en-GB" dirty="0"/>
              <a:t>This app intends to increase users' sense of security by providing features like real-time tracking</a:t>
            </a:r>
            <a:endParaRPr lang="en-US" dirty="0"/>
          </a:p>
        </p:txBody>
      </p:sp>
      <p:sp>
        <p:nvSpPr>
          <p:cNvPr id="19" name="Rectangle: Rounded Corners 18">
            <a:extLst>
              <a:ext uri="{FF2B5EF4-FFF2-40B4-BE49-F238E27FC236}">
                <a16:creationId xmlns:a16="http://schemas.microsoft.com/office/drawing/2014/main" id="{C1713E27-D344-7F35-03E7-800408A428AD}"/>
              </a:ext>
            </a:extLst>
          </p:cNvPr>
          <p:cNvSpPr/>
          <p:nvPr/>
        </p:nvSpPr>
        <p:spPr>
          <a:xfrm>
            <a:off x="5263735" y="7646100"/>
            <a:ext cx="2540000" cy="3759200"/>
          </a:xfrm>
          <a:prstGeom prst="roundRect">
            <a:avLst/>
          </a:prstGeom>
          <a:solidFill>
            <a:srgbClr val="FFFFFF"/>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0" name="Rectangle: Rounded Corners 19">
            <a:extLst>
              <a:ext uri="{FF2B5EF4-FFF2-40B4-BE49-F238E27FC236}">
                <a16:creationId xmlns:a16="http://schemas.microsoft.com/office/drawing/2014/main" id="{14AA6F51-1E3D-AACE-5FDE-BCBD9E8DE813}"/>
              </a:ext>
            </a:extLst>
          </p:cNvPr>
          <p:cNvSpPr/>
          <p:nvPr/>
        </p:nvSpPr>
        <p:spPr>
          <a:xfrm>
            <a:off x="5646415" y="1285435"/>
            <a:ext cx="2540000" cy="3759200"/>
          </a:xfrm>
          <a:prstGeom prst="roundRect">
            <a:avLst/>
          </a:prstGeom>
          <a:solidFill>
            <a:srgbClr val="FFFFFF">
              <a:alpha val="9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1" name="Graphic 20" descr="Marker with solid fill">
            <a:extLst>
              <a:ext uri="{FF2B5EF4-FFF2-40B4-BE49-F238E27FC236}">
                <a16:creationId xmlns:a16="http://schemas.microsoft.com/office/drawing/2014/main" id="{46739101-2A61-9F18-4498-DE4DEDA17D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2067" y="8769884"/>
            <a:ext cx="914400" cy="914400"/>
          </a:xfrm>
          <a:prstGeom prst="rect">
            <a:avLst/>
          </a:prstGeom>
        </p:spPr>
      </p:pic>
      <p:pic>
        <p:nvPicPr>
          <p:cNvPr id="22" name="Graphic 21" descr="Car with solid fill">
            <a:extLst>
              <a:ext uri="{FF2B5EF4-FFF2-40B4-BE49-F238E27FC236}">
                <a16:creationId xmlns:a16="http://schemas.microsoft.com/office/drawing/2014/main" id="{6707804C-D2CA-E52C-E84F-4C63721E4F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84357" y="9554146"/>
            <a:ext cx="914400" cy="914400"/>
          </a:xfrm>
          <a:prstGeom prst="rect">
            <a:avLst/>
          </a:prstGeom>
        </p:spPr>
      </p:pic>
      <p:sp>
        <p:nvSpPr>
          <p:cNvPr id="23" name="TextBox 22">
            <a:extLst>
              <a:ext uri="{FF2B5EF4-FFF2-40B4-BE49-F238E27FC236}">
                <a16:creationId xmlns:a16="http://schemas.microsoft.com/office/drawing/2014/main" id="{93DC2E81-ACDC-1200-9990-90BCE1BDE348}"/>
              </a:ext>
            </a:extLst>
          </p:cNvPr>
          <p:cNvSpPr txBox="1"/>
          <p:nvPr/>
        </p:nvSpPr>
        <p:spPr>
          <a:xfrm>
            <a:off x="5646415" y="8000917"/>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Tracking Feature</a:t>
            </a:r>
          </a:p>
        </p:txBody>
      </p:sp>
      <p:sp>
        <p:nvSpPr>
          <p:cNvPr id="24" name="TextBox 23">
            <a:extLst>
              <a:ext uri="{FF2B5EF4-FFF2-40B4-BE49-F238E27FC236}">
                <a16:creationId xmlns:a16="http://schemas.microsoft.com/office/drawing/2014/main" id="{40495D3B-AC33-B425-CA8A-4E14A8098131}"/>
              </a:ext>
            </a:extLst>
          </p:cNvPr>
          <p:cNvSpPr txBox="1"/>
          <p:nvPr/>
        </p:nvSpPr>
        <p:spPr>
          <a:xfrm>
            <a:off x="5823903" y="8375805"/>
            <a:ext cx="162232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a:t>
            </a:r>
          </a:p>
        </p:txBody>
      </p:sp>
      <p:pic>
        <p:nvPicPr>
          <p:cNvPr id="25" name="Graphic 24" descr="Rating Star with solid fill">
            <a:extLst>
              <a:ext uri="{FF2B5EF4-FFF2-40B4-BE49-F238E27FC236}">
                <a16:creationId xmlns:a16="http://schemas.microsoft.com/office/drawing/2014/main" id="{BCF6CC5C-2E85-C564-D668-D8286EB117F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77864" y="10462702"/>
            <a:ext cx="914400" cy="914400"/>
          </a:xfrm>
          <a:prstGeom prst="rect">
            <a:avLst/>
          </a:prstGeom>
        </p:spPr>
      </p:pic>
      <p:sp>
        <p:nvSpPr>
          <p:cNvPr id="28" name="TextBox 27">
            <a:extLst>
              <a:ext uri="{FF2B5EF4-FFF2-40B4-BE49-F238E27FC236}">
                <a16:creationId xmlns:a16="http://schemas.microsoft.com/office/drawing/2014/main" id="{12EBCAEC-3FD8-DADF-7927-5B2386D81873}"/>
              </a:ext>
            </a:extLst>
          </p:cNvPr>
          <p:cNvSpPr txBox="1"/>
          <p:nvPr/>
        </p:nvSpPr>
        <p:spPr>
          <a:xfrm>
            <a:off x="5941434" y="2795703"/>
            <a:ext cx="1862301" cy="646331"/>
          </a:xfrm>
          <a:prstGeom prst="rect">
            <a:avLst/>
          </a:prstGeom>
          <a:noFill/>
        </p:spPr>
        <p:txBody>
          <a:bodyPr wrap="square" rtlCol="0">
            <a:spAutoFit/>
          </a:bodyPr>
          <a:lstStyle/>
          <a:p>
            <a:pPr algn="ctr"/>
            <a:r>
              <a:rPr lang="en-GB" sz="3600" b="1" dirty="0"/>
              <a:t>CAMS</a:t>
            </a:r>
            <a:endParaRPr lang="en-US" sz="3600" b="1" dirty="0"/>
          </a:p>
        </p:txBody>
      </p:sp>
      <p:sp>
        <p:nvSpPr>
          <p:cNvPr id="29" name="TextBox 28">
            <a:extLst>
              <a:ext uri="{FF2B5EF4-FFF2-40B4-BE49-F238E27FC236}">
                <a16:creationId xmlns:a16="http://schemas.microsoft.com/office/drawing/2014/main" id="{5B44D16D-1795-5FCF-445A-EC41606C9318}"/>
              </a:ext>
            </a:extLst>
          </p:cNvPr>
          <p:cNvSpPr txBox="1"/>
          <p:nvPr/>
        </p:nvSpPr>
        <p:spPr>
          <a:xfrm>
            <a:off x="5985264" y="1632486"/>
            <a:ext cx="1862301" cy="369332"/>
          </a:xfrm>
          <a:prstGeom prst="rect">
            <a:avLst/>
          </a:prstGeom>
          <a:noFill/>
        </p:spPr>
        <p:txBody>
          <a:bodyPr wrap="square" rtlCol="0">
            <a:spAutoFit/>
          </a:bodyPr>
          <a:lstStyle/>
          <a:p>
            <a:pPr algn="ctr"/>
            <a:r>
              <a:rPr lang="en-GB" b="1" dirty="0"/>
              <a:t>Aim</a:t>
            </a:r>
            <a:endParaRPr lang="en-US" b="1" dirty="0"/>
          </a:p>
        </p:txBody>
      </p:sp>
      <p:sp>
        <p:nvSpPr>
          <p:cNvPr id="30" name="TextBox 29">
            <a:extLst>
              <a:ext uri="{FF2B5EF4-FFF2-40B4-BE49-F238E27FC236}">
                <a16:creationId xmlns:a16="http://schemas.microsoft.com/office/drawing/2014/main" id="{D7C5879E-69F9-137C-F53E-4C5A45CBCE1D}"/>
              </a:ext>
            </a:extLst>
          </p:cNvPr>
          <p:cNvSpPr txBox="1"/>
          <p:nvPr/>
        </p:nvSpPr>
        <p:spPr>
          <a:xfrm>
            <a:off x="6184357" y="2021615"/>
            <a:ext cx="1736909" cy="276999"/>
          </a:xfrm>
          <a:prstGeom prst="rect">
            <a:avLst/>
          </a:prstGeom>
          <a:noFill/>
        </p:spPr>
        <p:txBody>
          <a:bodyPr wrap="square" rtlCol="0">
            <a:spAutoFit/>
          </a:bodyPr>
          <a:lstStyle/>
          <a:p>
            <a:r>
              <a:rPr lang="en-GB" sz="1200" dirty="0"/>
              <a:t>Solution Application</a:t>
            </a:r>
            <a:endParaRPr lang="en-US" sz="1200" dirty="0"/>
          </a:p>
        </p:txBody>
      </p:sp>
    </p:spTree>
    <p:extLst>
      <p:ext uri="{BB962C8B-B14F-4D97-AF65-F5344CB8AC3E}">
        <p14:creationId xmlns:p14="http://schemas.microsoft.com/office/powerpoint/2010/main" val="346926052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6533735" y="0"/>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371847"/>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252161"/>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14" name="Rectangle: Rounded Corners 13">
            <a:extLst>
              <a:ext uri="{FF2B5EF4-FFF2-40B4-BE49-F238E27FC236}">
                <a16:creationId xmlns:a16="http://schemas.microsoft.com/office/drawing/2014/main" id="{B0146134-D968-A74D-79A2-0D1227D57023}"/>
              </a:ext>
            </a:extLst>
          </p:cNvPr>
          <p:cNvSpPr/>
          <p:nvPr/>
        </p:nvSpPr>
        <p:spPr>
          <a:xfrm>
            <a:off x="9001234" y="7419210"/>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a:extLst>
              <a:ext uri="{FF2B5EF4-FFF2-40B4-BE49-F238E27FC236}">
                <a16:creationId xmlns:a16="http://schemas.microsoft.com/office/drawing/2014/main" id="{1B372C36-BA21-C7A4-B7F9-21CB99F340AE}"/>
              </a:ext>
            </a:extLst>
          </p:cNvPr>
          <p:cNvSpPr txBox="1"/>
          <p:nvPr/>
        </p:nvSpPr>
        <p:spPr>
          <a:xfrm>
            <a:off x="416378" y="766554"/>
            <a:ext cx="3010767"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Requirements</a:t>
            </a:r>
          </a:p>
        </p:txBody>
      </p:sp>
      <p:cxnSp>
        <p:nvCxnSpPr>
          <p:cNvPr id="5" name="Straight Arrow Connector 4">
            <a:extLst>
              <a:ext uri="{FF2B5EF4-FFF2-40B4-BE49-F238E27FC236}">
                <a16:creationId xmlns:a16="http://schemas.microsoft.com/office/drawing/2014/main" id="{2FF12A9D-9A63-A353-F0E3-125592A56B17}"/>
              </a:ext>
            </a:extLst>
          </p:cNvPr>
          <p:cNvCxnSpPr>
            <a:cxnSpLocks/>
          </p:cNvCxnSpPr>
          <p:nvPr/>
        </p:nvCxnSpPr>
        <p:spPr>
          <a:xfrm flipV="1">
            <a:off x="475517" y="1683816"/>
            <a:ext cx="9107972" cy="665"/>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4AA9A2F-A30D-9805-492E-9EECA2E075B0}"/>
              </a:ext>
            </a:extLst>
          </p:cNvPr>
          <p:cNvSpPr txBox="1"/>
          <p:nvPr/>
        </p:nvSpPr>
        <p:spPr>
          <a:xfrm>
            <a:off x="416378" y="1309907"/>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9" name="TextBox 8">
            <a:extLst>
              <a:ext uri="{FF2B5EF4-FFF2-40B4-BE49-F238E27FC236}">
                <a16:creationId xmlns:a16="http://schemas.microsoft.com/office/drawing/2014/main" id="{8F486066-66D6-14FF-EBC0-C4FCE46A9C95}"/>
              </a:ext>
            </a:extLst>
          </p:cNvPr>
          <p:cNvSpPr txBox="1"/>
          <p:nvPr/>
        </p:nvSpPr>
        <p:spPr>
          <a:xfrm>
            <a:off x="6744532" y="2292249"/>
            <a:ext cx="309452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rPr>
              <a:t>Security</a:t>
            </a:r>
            <a:r>
              <a:rPr lang="en-GB" dirty="0">
                <a:solidFill>
                  <a:schemeClr val="bg1"/>
                </a:solidFill>
              </a:rPr>
              <a:t> is prioritized with encryption for data in transit and at rest and role-based access control to prevent unauthorized access. </a:t>
            </a:r>
          </a:p>
          <a:p>
            <a:endParaRPr lang="en-GB" dirty="0">
              <a:solidFill>
                <a:schemeClr val="bg1"/>
              </a:solidFill>
            </a:endParaRPr>
          </a:p>
          <a:p>
            <a:r>
              <a:rPr lang="en-GB" dirty="0">
                <a:solidFill>
                  <a:schemeClr val="bg1"/>
                </a:solidFill>
              </a:rPr>
              <a:t>For </a:t>
            </a:r>
            <a:r>
              <a:rPr lang="en-GB" b="1" dirty="0">
                <a:solidFill>
                  <a:schemeClr val="bg1"/>
                </a:solidFill>
              </a:rPr>
              <a:t>usability</a:t>
            </a:r>
            <a:r>
              <a:rPr lang="en-GB" dirty="0">
                <a:solidFill>
                  <a:schemeClr val="bg1"/>
                </a:solidFill>
              </a:rPr>
              <a:t>, the app has a user-friendly interface that is intuitive and responsive</a:t>
            </a:r>
          </a:p>
          <a:p>
            <a:endParaRPr lang="en-GB" dirty="0">
              <a:solidFill>
                <a:schemeClr val="bg1"/>
              </a:solidFill>
            </a:endParaRPr>
          </a:p>
          <a:p>
            <a:endParaRPr lang="en-US" dirty="0">
              <a:solidFill>
                <a:schemeClr val="bg1"/>
              </a:solidFill>
            </a:endParaRPr>
          </a:p>
        </p:txBody>
      </p:sp>
      <p:sp>
        <p:nvSpPr>
          <p:cNvPr id="12" name="Rectangle: Rounded Corners 11">
            <a:extLst>
              <a:ext uri="{FF2B5EF4-FFF2-40B4-BE49-F238E27FC236}">
                <a16:creationId xmlns:a16="http://schemas.microsoft.com/office/drawing/2014/main" id="{7D396B0F-18C7-3458-1686-BE277983C3F6}"/>
              </a:ext>
            </a:extLst>
          </p:cNvPr>
          <p:cNvSpPr/>
          <p:nvPr/>
        </p:nvSpPr>
        <p:spPr>
          <a:xfrm>
            <a:off x="5658266" y="7419210"/>
            <a:ext cx="2540000" cy="3759200"/>
          </a:xfrm>
          <a:prstGeom prst="roundRect">
            <a:avLst/>
          </a:prstGeom>
          <a:solidFill>
            <a:srgbClr val="FFFFFF"/>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 name="Graphic 1" descr="Headphones with solid fill">
            <a:extLst>
              <a:ext uri="{FF2B5EF4-FFF2-40B4-BE49-F238E27FC236}">
                <a16:creationId xmlns:a16="http://schemas.microsoft.com/office/drawing/2014/main" id="{A92EF832-C87B-71E6-81B6-B3797060AC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2742" y="8557624"/>
            <a:ext cx="914400" cy="914400"/>
          </a:xfrm>
          <a:prstGeom prst="rect">
            <a:avLst/>
          </a:prstGeom>
        </p:spPr>
      </p:pic>
      <p:sp>
        <p:nvSpPr>
          <p:cNvPr id="10" name="TextBox 9">
            <a:extLst>
              <a:ext uri="{FF2B5EF4-FFF2-40B4-BE49-F238E27FC236}">
                <a16:creationId xmlns:a16="http://schemas.microsoft.com/office/drawing/2014/main" id="{7DDB01B1-62ED-FCAE-F629-D14EF8498E81}"/>
              </a:ext>
            </a:extLst>
          </p:cNvPr>
          <p:cNvSpPr txBox="1"/>
          <p:nvPr/>
        </p:nvSpPr>
        <p:spPr>
          <a:xfrm>
            <a:off x="6125648" y="7619839"/>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24/7 Support</a:t>
            </a:r>
          </a:p>
        </p:txBody>
      </p:sp>
      <p:sp>
        <p:nvSpPr>
          <p:cNvPr id="13" name="TextBox 12">
            <a:extLst>
              <a:ext uri="{FF2B5EF4-FFF2-40B4-BE49-F238E27FC236}">
                <a16:creationId xmlns:a16="http://schemas.microsoft.com/office/drawing/2014/main" id="{7FA914CC-2E44-D6F6-13EB-083E80A1DE31}"/>
              </a:ext>
            </a:extLst>
          </p:cNvPr>
          <p:cNvSpPr txBox="1"/>
          <p:nvPr/>
        </p:nvSpPr>
        <p:spPr>
          <a:xfrm>
            <a:off x="5909845" y="7994728"/>
            <a:ext cx="206477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application/website</a:t>
            </a:r>
          </a:p>
        </p:txBody>
      </p:sp>
      <p:pic>
        <p:nvPicPr>
          <p:cNvPr id="17" name="Graphic 16" descr="Rating 3 Star with solid fill">
            <a:extLst>
              <a:ext uri="{FF2B5EF4-FFF2-40B4-BE49-F238E27FC236}">
                <a16:creationId xmlns:a16="http://schemas.microsoft.com/office/drawing/2014/main" id="{3992C98B-09DA-C4C6-CBCF-73B1DF51F1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5032" y="10106205"/>
            <a:ext cx="914400" cy="914400"/>
          </a:xfrm>
          <a:prstGeom prst="rect">
            <a:avLst/>
          </a:prstGeom>
        </p:spPr>
      </p:pic>
      <p:sp>
        <p:nvSpPr>
          <p:cNvPr id="11" name="Rectangle: Rounded Corners 10">
            <a:extLst>
              <a:ext uri="{FF2B5EF4-FFF2-40B4-BE49-F238E27FC236}">
                <a16:creationId xmlns:a16="http://schemas.microsoft.com/office/drawing/2014/main" id="{2676AD19-2BDB-9168-0061-CDEC75883A78}"/>
              </a:ext>
            </a:extLst>
          </p:cNvPr>
          <p:cNvSpPr/>
          <p:nvPr/>
        </p:nvSpPr>
        <p:spPr>
          <a:xfrm>
            <a:off x="12140280" y="7419210"/>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 name="TextBox 2">
            <a:extLst>
              <a:ext uri="{FF2B5EF4-FFF2-40B4-BE49-F238E27FC236}">
                <a16:creationId xmlns:a16="http://schemas.microsoft.com/office/drawing/2014/main" id="{454D2E83-75A6-5B7F-09E8-1B45431ECD70}"/>
              </a:ext>
            </a:extLst>
          </p:cNvPr>
          <p:cNvSpPr txBox="1"/>
          <p:nvPr/>
        </p:nvSpPr>
        <p:spPr>
          <a:xfrm>
            <a:off x="416378" y="1802875"/>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Functional Requirements:</a:t>
            </a:r>
          </a:p>
        </p:txBody>
      </p:sp>
      <p:sp>
        <p:nvSpPr>
          <p:cNvPr id="15" name="TextBox 14">
            <a:extLst>
              <a:ext uri="{FF2B5EF4-FFF2-40B4-BE49-F238E27FC236}">
                <a16:creationId xmlns:a16="http://schemas.microsoft.com/office/drawing/2014/main" id="{B9343E57-02FB-E431-7C9E-23727205BE87}"/>
              </a:ext>
            </a:extLst>
          </p:cNvPr>
          <p:cNvSpPr txBox="1"/>
          <p:nvPr/>
        </p:nvSpPr>
        <p:spPr>
          <a:xfrm>
            <a:off x="6744532" y="1816098"/>
            <a:ext cx="309452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Non-Functional Requirements:</a:t>
            </a:r>
          </a:p>
        </p:txBody>
      </p:sp>
      <p:sp>
        <p:nvSpPr>
          <p:cNvPr id="18" name="TextBox 17">
            <a:extLst>
              <a:ext uri="{FF2B5EF4-FFF2-40B4-BE49-F238E27FC236}">
                <a16:creationId xmlns:a16="http://schemas.microsoft.com/office/drawing/2014/main" id="{C2994501-9C27-31EB-7A2F-5D42067CB52F}"/>
              </a:ext>
            </a:extLst>
          </p:cNvPr>
          <p:cNvSpPr txBox="1"/>
          <p:nvPr/>
        </p:nvSpPr>
        <p:spPr>
          <a:xfrm>
            <a:off x="416378" y="2110652"/>
            <a:ext cx="3094526"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Real-Time Vehicle Tracking</a:t>
            </a:r>
            <a:r>
              <a:rPr lang="en-GB" dirty="0"/>
              <a:t>: The app should display a vehicle’s live location on a map, with updates at regular intervals to ensure accuracy.</a:t>
            </a:r>
          </a:p>
          <a:p>
            <a:endParaRPr lang="en-GB" b="1" dirty="0"/>
          </a:p>
          <a:p>
            <a:r>
              <a:rPr lang="en-GB" b="1" dirty="0"/>
              <a:t>Vehicle Management</a:t>
            </a:r>
            <a:r>
              <a:rPr lang="en-GB" dirty="0"/>
              <a:t>: Users can add, edit, or remove vehicles in their account, with each vehicle's details easily accessible for quick reference.</a:t>
            </a:r>
            <a:endParaRPr lang="en-GB" b="1" dirty="0"/>
          </a:p>
          <a:p>
            <a:endParaRPr lang="en-GB" b="1" dirty="0"/>
          </a:p>
          <a:p>
            <a:r>
              <a:rPr lang="en-GB" b="1" dirty="0"/>
              <a:t>Real-time</a:t>
            </a:r>
            <a:r>
              <a:rPr lang="en-GB" dirty="0"/>
              <a:t> vehicle tracking feature displays live GPS locations on an interactive map.</a:t>
            </a:r>
            <a:endParaRPr lang="en-US" dirty="0"/>
          </a:p>
        </p:txBody>
      </p:sp>
      <p:graphicFrame>
        <p:nvGraphicFramePr>
          <p:cNvPr id="24" name="Table 23">
            <a:extLst>
              <a:ext uri="{FF2B5EF4-FFF2-40B4-BE49-F238E27FC236}">
                <a16:creationId xmlns:a16="http://schemas.microsoft.com/office/drawing/2014/main" id="{AE8A0B1C-4CFA-6065-EC43-41DDA8A81542}"/>
              </a:ext>
            </a:extLst>
          </p:cNvPr>
          <p:cNvGraphicFramePr>
            <a:graphicFrameLocks noGrp="1"/>
          </p:cNvGraphicFramePr>
          <p:nvPr>
            <p:extLst>
              <p:ext uri="{D42A27DB-BD31-4B8C-83A1-F6EECF244321}">
                <p14:modId xmlns:p14="http://schemas.microsoft.com/office/powerpoint/2010/main" val="1617439523"/>
              </p:ext>
            </p:extLst>
          </p:nvPr>
        </p:nvGraphicFramePr>
        <p:xfrm>
          <a:off x="13304126" y="1818378"/>
          <a:ext cx="11684889" cy="5437893"/>
        </p:xfrm>
        <a:graphic>
          <a:graphicData uri="http://schemas.openxmlformats.org/drawingml/2006/table">
            <a:tbl>
              <a:tblPr firstRow="1" bandRow="1">
                <a:tableStyleId>{93296810-A885-4BE3-A3E7-6D5BEEA58F35}</a:tableStyleId>
              </a:tblPr>
              <a:tblGrid>
                <a:gridCol w="3894963">
                  <a:extLst>
                    <a:ext uri="{9D8B030D-6E8A-4147-A177-3AD203B41FA5}">
                      <a16:colId xmlns:a16="http://schemas.microsoft.com/office/drawing/2014/main" val="1688798857"/>
                    </a:ext>
                  </a:extLst>
                </a:gridCol>
                <a:gridCol w="3894963">
                  <a:extLst>
                    <a:ext uri="{9D8B030D-6E8A-4147-A177-3AD203B41FA5}">
                      <a16:colId xmlns:a16="http://schemas.microsoft.com/office/drawing/2014/main" val="2789624132"/>
                    </a:ext>
                  </a:extLst>
                </a:gridCol>
                <a:gridCol w="3894963">
                  <a:extLst>
                    <a:ext uri="{9D8B030D-6E8A-4147-A177-3AD203B41FA5}">
                      <a16:colId xmlns:a16="http://schemas.microsoft.com/office/drawing/2014/main" val="2812719424"/>
                    </a:ext>
                  </a:extLst>
                </a:gridCol>
              </a:tblGrid>
              <a:tr h="441031">
                <a:tc>
                  <a:txBody>
                    <a:bodyPr/>
                    <a:lstStyle/>
                    <a:p>
                      <a:r>
                        <a:rPr lang="en-US" b="1" dirty="0"/>
                        <a:t>Project Phase</a:t>
                      </a:r>
                      <a:endParaRPr lang="en-US" dirty="0"/>
                    </a:p>
                  </a:txBody>
                  <a:tcPr anchor="ctr"/>
                </a:tc>
                <a:tc>
                  <a:txBody>
                    <a:bodyPr/>
                    <a:lstStyle/>
                    <a:p>
                      <a:r>
                        <a:rPr lang="en-US" b="1"/>
                        <a:t>Budget (R)</a:t>
                      </a:r>
                      <a:endParaRPr lang="en-US"/>
                    </a:p>
                  </a:txBody>
                  <a:tcPr anchor="ctr"/>
                </a:tc>
                <a:tc>
                  <a:txBody>
                    <a:bodyPr/>
                    <a:lstStyle/>
                    <a:p>
                      <a:r>
                        <a:rPr lang="en-US" b="1" dirty="0"/>
                        <a:t>Description</a:t>
                      </a:r>
                      <a:endParaRPr lang="en-US" dirty="0"/>
                    </a:p>
                  </a:txBody>
                  <a:tcPr anchor="ctr"/>
                </a:tc>
                <a:extLst>
                  <a:ext uri="{0D108BD9-81ED-4DB2-BD59-A6C34878D82A}">
                    <a16:rowId xmlns:a16="http://schemas.microsoft.com/office/drawing/2014/main" val="1535617614"/>
                  </a:ext>
                </a:extLst>
              </a:tr>
              <a:tr h="580317">
                <a:tc>
                  <a:txBody>
                    <a:bodyPr/>
                    <a:lstStyle/>
                    <a:p>
                      <a:r>
                        <a:rPr lang="en-US" dirty="0"/>
                        <a:t>Requirements Gathering</a:t>
                      </a:r>
                    </a:p>
                  </a:txBody>
                  <a:tcPr/>
                </a:tc>
                <a:tc>
                  <a:txBody>
                    <a:bodyPr/>
                    <a:lstStyle/>
                    <a:p>
                      <a:r>
                        <a:rPr lang="en-US" dirty="0"/>
                        <a:t>1,000</a:t>
                      </a:r>
                    </a:p>
                  </a:txBody>
                  <a:tcPr/>
                </a:tc>
                <a:tc>
                  <a:txBody>
                    <a:bodyPr/>
                    <a:lstStyle/>
                    <a:p>
                      <a:r>
                        <a:rPr lang="en-GB" dirty="0"/>
                        <a:t>Research, stakeholder meetings, requirements documentation.</a:t>
                      </a:r>
                      <a:endParaRPr lang="en-US" dirty="0"/>
                    </a:p>
                  </a:txBody>
                  <a:tcPr/>
                </a:tc>
                <a:extLst>
                  <a:ext uri="{0D108BD9-81ED-4DB2-BD59-A6C34878D82A}">
                    <a16:rowId xmlns:a16="http://schemas.microsoft.com/office/drawing/2014/main" val="316888409"/>
                  </a:ext>
                </a:extLst>
              </a:tr>
              <a:tr h="580317">
                <a:tc>
                  <a:txBody>
                    <a:bodyPr/>
                    <a:lstStyle/>
                    <a:p>
                      <a:r>
                        <a:rPr lang="en-US" dirty="0"/>
                        <a:t>UI/UX Design</a:t>
                      </a:r>
                    </a:p>
                  </a:txBody>
                  <a:tcPr/>
                </a:tc>
                <a:tc>
                  <a:txBody>
                    <a:bodyPr/>
                    <a:lstStyle/>
                    <a:p>
                      <a:r>
                        <a:rPr lang="en-US" dirty="0"/>
                        <a:t>2,000</a:t>
                      </a:r>
                    </a:p>
                  </a:txBody>
                  <a:tcPr/>
                </a:tc>
                <a:tc>
                  <a:txBody>
                    <a:bodyPr/>
                    <a:lstStyle/>
                    <a:p>
                      <a:r>
                        <a:rPr lang="en-GB" dirty="0"/>
                        <a:t>Wireframes, </a:t>
                      </a:r>
                      <a:r>
                        <a:rPr lang="en-GB" dirty="0" err="1"/>
                        <a:t>mockups</a:t>
                      </a:r>
                      <a:r>
                        <a:rPr lang="en-GB" dirty="0"/>
                        <a:t>, and usability testing for user interface design.</a:t>
                      </a:r>
                      <a:endParaRPr lang="en-US" dirty="0"/>
                    </a:p>
                  </a:txBody>
                  <a:tcPr/>
                </a:tc>
                <a:extLst>
                  <a:ext uri="{0D108BD9-81ED-4DB2-BD59-A6C34878D82A}">
                    <a16:rowId xmlns:a16="http://schemas.microsoft.com/office/drawing/2014/main" val="739279087"/>
                  </a:ext>
                </a:extLst>
              </a:tr>
              <a:tr h="829025">
                <a:tc>
                  <a:txBody>
                    <a:bodyPr/>
                    <a:lstStyle/>
                    <a:p>
                      <a:r>
                        <a:rPr lang="en-US" dirty="0"/>
                        <a:t>Backend Development</a:t>
                      </a:r>
                    </a:p>
                  </a:txBody>
                  <a:tcPr/>
                </a:tc>
                <a:tc>
                  <a:txBody>
                    <a:bodyPr/>
                    <a:lstStyle/>
                    <a:p>
                      <a:r>
                        <a:rPr lang="en-US" dirty="0"/>
                        <a:t>3,000</a:t>
                      </a:r>
                    </a:p>
                  </a:txBody>
                  <a:tcPr/>
                </a:tc>
                <a:tc>
                  <a:txBody>
                    <a:bodyPr/>
                    <a:lstStyle/>
                    <a:p>
                      <a:r>
                        <a:rPr lang="en-GB" dirty="0"/>
                        <a:t>Database setup, server logic, API development, and integration with tracking hardware.</a:t>
                      </a:r>
                      <a:endParaRPr lang="en-US" dirty="0"/>
                    </a:p>
                  </a:txBody>
                  <a:tcPr/>
                </a:tc>
                <a:extLst>
                  <a:ext uri="{0D108BD9-81ED-4DB2-BD59-A6C34878D82A}">
                    <a16:rowId xmlns:a16="http://schemas.microsoft.com/office/drawing/2014/main" val="3501732199"/>
                  </a:ext>
                </a:extLst>
              </a:tr>
              <a:tr h="580317">
                <a:tc>
                  <a:txBody>
                    <a:bodyPr/>
                    <a:lstStyle/>
                    <a:p>
                      <a:r>
                        <a:rPr lang="en-US" dirty="0"/>
                        <a:t>Frontend Development</a:t>
                      </a:r>
                    </a:p>
                  </a:txBody>
                  <a:tcPr/>
                </a:tc>
                <a:tc>
                  <a:txBody>
                    <a:bodyPr/>
                    <a:lstStyle/>
                    <a:p>
                      <a:r>
                        <a:rPr lang="en-US" dirty="0"/>
                        <a:t>2,500</a:t>
                      </a:r>
                    </a:p>
                  </a:txBody>
                  <a:tcPr/>
                </a:tc>
                <a:tc>
                  <a:txBody>
                    <a:bodyPr/>
                    <a:lstStyle/>
                    <a:p>
                      <a:r>
                        <a:rPr lang="en-GB" dirty="0"/>
                        <a:t>Building the user interface and integrating with backend systems.</a:t>
                      </a:r>
                      <a:endParaRPr lang="en-US" dirty="0"/>
                    </a:p>
                  </a:txBody>
                  <a:tcPr/>
                </a:tc>
                <a:extLst>
                  <a:ext uri="{0D108BD9-81ED-4DB2-BD59-A6C34878D82A}">
                    <a16:rowId xmlns:a16="http://schemas.microsoft.com/office/drawing/2014/main" val="3590555422"/>
                  </a:ext>
                </a:extLst>
              </a:tr>
              <a:tr h="580317">
                <a:tc>
                  <a:txBody>
                    <a:bodyPr/>
                    <a:lstStyle/>
                    <a:p>
                      <a:r>
                        <a:rPr lang="en-US" dirty="0"/>
                        <a:t>Testing &amp; Quality Assurance</a:t>
                      </a:r>
                    </a:p>
                  </a:txBody>
                  <a:tcPr/>
                </a:tc>
                <a:tc>
                  <a:txBody>
                    <a:bodyPr/>
                    <a:lstStyle/>
                    <a:p>
                      <a:r>
                        <a:rPr lang="en-US" dirty="0"/>
                        <a:t>1,500</a:t>
                      </a:r>
                    </a:p>
                  </a:txBody>
                  <a:tcPr/>
                </a:tc>
                <a:tc>
                  <a:txBody>
                    <a:bodyPr/>
                    <a:lstStyle/>
                    <a:p>
                      <a:r>
                        <a:rPr lang="en-GB" dirty="0"/>
                        <a:t>Functional testing, usability testing, bug tracking, and quality assurance.</a:t>
                      </a:r>
                      <a:endParaRPr lang="en-US" dirty="0"/>
                    </a:p>
                  </a:txBody>
                  <a:tcPr/>
                </a:tc>
                <a:extLst>
                  <a:ext uri="{0D108BD9-81ED-4DB2-BD59-A6C34878D82A}">
                    <a16:rowId xmlns:a16="http://schemas.microsoft.com/office/drawing/2014/main" val="3543473462"/>
                  </a:ext>
                </a:extLst>
              </a:tr>
              <a:tr h="580317">
                <a:tc>
                  <a:txBody>
                    <a:bodyPr/>
                    <a:lstStyle/>
                    <a:p>
                      <a:r>
                        <a:rPr lang="en-US" dirty="0"/>
                        <a:t>Deployment &amp; Launch</a:t>
                      </a:r>
                    </a:p>
                  </a:txBody>
                  <a:tcPr/>
                </a:tc>
                <a:tc>
                  <a:txBody>
                    <a:bodyPr/>
                    <a:lstStyle/>
                    <a:p>
                      <a:r>
                        <a:rPr lang="en-US" dirty="0"/>
                        <a:t>1,000</a:t>
                      </a:r>
                    </a:p>
                  </a:txBody>
                  <a:tcPr/>
                </a:tc>
                <a:tc>
                  <a:txBody>
                    <a:bodyPr/>
                    <a:lstStyle/>
                    <a:p>
                      <a:r>
                        <a:rPr lang="en-GB" dirty="0"/>
                        <a:t>Finalizing deployment to app stores, web hosting, and server setup.</a:t>
                      </a:r>
                      <a:endParaRPr lang="en-US" dirty="0"/>
                    </a:p>
                  </a:txBody>
                  <a:tcPr/>
                </a:tc>
                <a:extLst>
                  <a:ext uri="{0D108BD9-81ED-4DB2-BD59-A6C34878D82A}">
                    <a16:rowId xmlns:a16="http://schemas.microsoft.com/office/drawing/2014/main" val="400705387"/>
                  </a:ext>
                </a:extLst>
              </a:tr>
              <a:tr h="441031">
                <a:tc>
                  <a:txBody>
                    <a:bodyPr/>
                    <a:lstStyle/>
                    <a:p>
                      <a:r>
                        <a:rPr lang="en-GB" dirty="0"/>
                        <a:t>Total</a:t>
                      </a:r>
                      <a:endParaRPr lang="en-US" dirty="0"/>
                    </a:p>
                  </a:txBody>
                  <a:tcPr/>
                </a:tc>
                <a:tc>
                  <a:txBody>
                    <a:bodyPr/>
                    <a:lstStyle/>
                    <a:p>
                      <a:r>
                        <a:rPr lang="en-GB" dirty="0"/>
                        <a:t>11,000</a:t>
                      </a:r>
                      <a:endParaRPr lang="en-US" dirty="0"/>
                    </a:p>
                  </a:txBody>
                  <a:tcPr/>
                </a:tc>
                <a:tc>
                  <a:txBody>
                    <a:bodyPr/>
                    <a:lstStyle/>
                    <a:p>
                      <a:endParaRPr lang="en-US" dirty="0"/>
                    </a:p>
                  </a:txBody>
                  <a:tcPr/>
                </a:tc>
                <a:extLst>
                  <a:ext uri="{0D108BD9-81ED-4DB2-BD59-A6C34878D82A}">
                    <a16:rowId xmlns:a16="http://schemas.microsoft.com/office/drawing/2014/main" val="4199962301"/>
                  </a:ext>
                </a:extLst>
              </a:tr>
              <a:tr h="441031">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131454884"/>
                  </a:ext>
                </a:extLst>
              </a:tr>
            </a:tbl>
          </a:graphicData>
        </a:graphic>
      </p:graphicFrame>
    </p:spTree>
    <p:extLst>
      <p:ext uri="{BB962C8B-B14F-4D97-AF65-F5344CB8AC3E}">
        <p14:creationId xmlns:p14="http://schemas.microsoft.com/office/powerpoint/2010/main" val="1984936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6533735" y="0"/>
            <a:ext cx="565524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131896"/>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12210"/>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
        <p:nvSpPr>
          <p:cNvPr id="14" name="Rectangle: Rounded Corners 13">
            <a:extLst>
              <a:ext uri="{FF2B5EF4-FFF2-40B4-BE49-F238E27FC236}">
                <a16:creationId xmlns:a16="http://schemas.microsoft.com/office/drawing/2014/main" id="{B0146134-D968-A74D-79A2-0D1227D57023}"/>
              </a:ext>
            </a:extLst>
          </p:cNvPr>
          <p:cNvSpPr/>
          <p:nvPr/>
        </p:nvSpPr>
        <p:spPr>
          <a:xfrm>
            <a:off x="9001234" y="7419210"/>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a:extLst>
              <a:ext uri="{FF2B5EF4-FFF2-40B4-BE49-F238E27FC236}">
                <a16:creationId xmlns:a16="http://schemas.microsoft.com/office/drawing/2014/main" id="{1B372C36-BA21-C7A4-B7F9-21CB99F340AE}"/>
              </a:ext>
            </a:extLst>
          </p:cNvPr>
          <p:cNvSpPr txBox="1"/>
          <p:nvPr/>
        </p:nvSpPr>
        <p:spPr>
          <a:xfrm>
            <a:off x="422961" y="759311"/>
            <a:ext cx="3010767"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Budget</a:t>
            </a:r>
          </a:p>
        </p:txBody>
      </p:sp>
      <p:cxnSp>
        <p:nvCxnSpPr>
          <p:cNvPr id="5" name="Straight Arrow Connector 4">
            <a:extLst>
              <a:ext uri="{FF2B5EF4-FFF2-40B4-BE49-F238E27FC236}">
                <a16:creationId xmlns:a16="http://schemas.microsoft.com/office/drawing/2014/main" id="{2FF12A9D-9A63-A353-F0E3-125592A56B17}"/>
              </a:ext>
            </a:extLst>
          </p:cNvPr>
          <p:cNvCxnSpPr>
            <a:cxnSpLocks/>
          </p:cNvCxnSpPr>
          <p:nvPr/>
        </p:nvCxnSpPr>
        <p:spPr>
          <a:xfrm flipV="1">
            <a:off x="508994" y="1581916"/>
            <a:ext cx="9107972" cy="665"/>
          </a:xfrm>
          <a:prstGeom prst="straightConnector1">
            <a:avLst/>
          </a:prstGeom>
          <a:ln>
            <a:solidFill>
              <a:srgbClr val="46D259"/>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14AA9A2F-A30D-9805-492E-9EECA2E075B0}"/>
              </a:ext>
            </a:extLst>
          </p:cNvPr>
          <p:cNvSpPr txBox="1"/>
          <p:nvPr/>
        </p:nvSpPr>
        <p:spPr>
          <a:xfrm>
            <a:off x="422961" y="1253373"/>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Assert oversight</a:t>
            </a:r>
          </a:p>
        </p:txBody>
      </p:sp>
      <p:sp>
        <p:nvSpPr>
          <p:cNvPr id="9" name="TextBox 8">
            <a:extLst>
              <a:ext uri="{FF2B5EF4-FFF2-40B4-BE49-F238E27FC236}">
                <a16:creationId xmlns:a16="http://schemas.microsoft.com/office/drawing/2014/main" id="{8F486066-66D6-14FF-EBC0-C4FCE46A9C95}"/>
              </a:ext>
            </a:extLst>
          </p:cNvPr>
          <p:cNvSpPr txBox="1"/>
          <p:nvPr/>
        </p:nvSpPr>
        <p:spPr>
          <a:xfrm>
            <a:off x="7219759" y="7595295"/>
            <a:ext cx="309452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rPr>
              <a:t>Security</a:t>
            </a:r>
            <a:r>
              <a:rPr lang="en-GB" dirty="0">
                <a:solidFill>
                  <a:schemeClr val="bg1"/>
                </a:solidFill>
              </a:rPr>
              <a:t> is prioritized with encryption for data in transit and at rest and role-based access control to prevent unauthorized access. </a:t>
            </a:r>
          </a:p>
          <a:p>
            <a:endParaRPr lang="en-GB" dirty="0">
              <a:solidFill>
                <a:schemeClr val="bg1"/>
              </a:solidFill>
            </a:endParaRPr>
          </a:p>
          <a:p>
            <a:r>
              <a:rPr lang="en-GB" dirty="0">
                <a:solidFill>
                  <a:schemeClr val="bg1"/>
                </a:solidFill>
              </a:rPr>
              <a:t>For </a:t>
            </a:r>
            <a:r>
              <a:rPr lang="en-GB" b="1" dirty="0">
                <a:solidFill>
                  <a:schemeClr val="bg1"/>
                </a:solidFill>
              </a:rPr>
              <a:t>usability</a:t>
            </a:r>
            <a:r>
              <a:rPr lang="en-GB" dirty="0">
                <a:solidFill>
                  <a:schemeClr val="bg1"/>
                </a:solidFill>
              </a:rPr>
              <a:t>, the app has a user-friendly interface that is intuitive and responsive</a:t>
            </a:r>
            <a:endParaRPr lang="en-US" dirty="0">
              <a:solidFill>
                <a:schemeClr val="bg1"/>
              </a:solidFill>
            </a:endParaRPr>
          </a:p>
        </p:txBody>
      </p:sp>
      <p:sp>
        <p:nvSpPr>
          <p:cNvPr id="12" name="Rectangle: Rounded Corners 11">
            <a:extLst>
              <a:ext uri="{FF2B5EF4-FFF2-40B4-BE49-F238E27FC236}">
                <a16:creationId xmlns:a16="http://schemas.microsoft.com/office/drawing/2014/main" id="{7D396B0F-18C7-3458-1686-BE277983C3F6}"/>
              </a:ext>
            </a:extLst>
          </p:cNvPr>
          <p:cNvSpPr/>
          <p:nvPr/>
        </p:nvSpPr>
        <p:spPr>
          <a:xfrm>
            <a:off x="5658266" y="7419210"/>
            <a:ext cx="2540000" cy="3759200"/>
          </a:xfrm>
          <a:prstGeom prst="roundRect">
            <a:avLst/>
          </a:prstGeom>
          <a:solidFill>
            <a:srgbClr val="FFFFFF"/>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2" name="Graphic 1" descr="Headphones with solid fill">
            <a:extLst>
              <a:ext uri="{FF2B5EF4-FFF2-40B4-BE49-F238E27FC236}">
                <a16:creationId xmlns:a16="http://schemas.microsoft.com/office/drawing/2014/main" id="{A92EF832-C87B-71E6-81B6-B3797060AC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2742" y="8557624"/>
            <a:ext cx="914400" cy="914400"/>
          </a:xfrm>
          <a:prstGeom prst="rect">
            <a:avLst/>
          </a:prstGeom>
        </p:spPr>
      </p:pic>
      <p:sp>
        <p:nvSpPr>
          <p:cNvPr id="10" name="TextBox 9">
            <a:extLst>
              <a:ext uri="{FF2B5EF4-FFF2-40B4-BE49-F238E27FC236}">
                <a16:creationId xmlns:a16="http://schemas.microsoft.com/office/drawing/2014/main" id="{7DDB01B1-62ED-FCAE-F629-D14EF8498E81}"/>
              </a:ext>
            </a:extLst>
          </p:cNvPr>
          <p:cNvSpPr txBox="1"/>
          <p:nvPr/>
        </p:nvSpPr>
        <p:spPr>
          <a:xfrm>
            <a:off x="6125648" y="7619839"/>
            <a:ext cx="19852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24/7 Support</a:t>
            </a:r>
          </a:p>
        </p:txBody>
      </p:sp>
      <p:sp>
        <p:nvSpPr>
          <p:cNvPr id="13" name="TextBox 12">
            <a:extLst>
              <a:ext uri="{FF2B5EF4-FFF2-40B4-BE49-F238E27FC236}">
                <a16:creationId xmlns:a16="http://schemas.microsoft.com/office/drawing/2014/main" id="{7FA914CC-2E44-D6F6-13EB-083E80A1DE31}"/>
              </a:ext>
            </a:extLst>
          </p:cNvPr>
          <p:cNvSpPr txBox="1"/>
          <p:nvPr/>
        </p:nvSpPr>
        <p:spPr>
          <a:xfrm>
            <a:off x="5909845" y="7994728"/>
            <a:ext cx="206477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On mobile application/website</a:t>
            </a:r>
          </a:p>
        </p:txBody>
      </p:sp>
      <p:pic>
        <p:nvPicPr>
          <p:cNvPr id="17" name="Graphic 16" descr="Rating 3 Star with solid fill">
            <a:extLst>
              <a:ext uri="{FF2B5EF4-FFF2-40B4-BE49-F238E27FC236}">
                <a16:creationId xmlns:a16="http://schemas.microsoft.com/office/drawing/2014/main" id="{3992C98B-09DA-C4C6-CBCF-73B1DF51F1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5032" y="10106205"/>
            <a:ext cx="914400" cy="914400"/>
          </a:xfrm>
          <a:prstGeom prst="rect">
            <a:avLst/>
          </a:prstGeom>
        </p:spPr>
      </p:pic>
      <p:sp>
        <p:nvSpPr>
          <p:cNvPr id="11" name="Rectangle: Rounded Corners 10">
            <a:extLst>
              <a:ext uri="{FF2B5EF4-FFF2-40B4-BE49-F238E27FC236}">
                <a16:creationId xmlns:a16="http://schemas.microsoft.com/office/drawing/2014/main" id="{2676AD19-2BDB-9168-0061-CDEC75883A78}"/>
              </a:ext>
            </a:extLst>
          </p:cNvPr>
          <p:cNvSpPr/>
          <p:nvPr/>
        </p:nvSpPr>
        <p:spPr>
          <a:xfrm>
            <a:off x="12140280" y="7419210"/>
            <a:ext cx="2540000" cy="3759200"/>
          </a:xfrm>
          <a:prstGeom prst="roundRect">
            <a:avLst/>
          </a:prstGeom>
          <a:solidFill>
            <a:srgbClr val="FFFFFF">
              <a:alpha val="49000"/>
            </a:srgbClr>
          </a:solidFill>
          <a:ln>
            <a:noFill/>
          </a:ln>
          <a:effectLst>
            <a:outerShdw blurRad="63500" dist="508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 name="TextBox 2">
            <a:extLst>
              <a:ext uri="{FF2B5EF4-FFF2-40B4-BE49-F238E27FC236}">
                <a16:creationId xmlns:a16="http://schemas.microsoft.com/office/drawing/2014/main" id="{454D2E83-75A6-5B7F-09E8-1B45431ECD70}"/>
              </a:ext>
            </a:extLst>
          </p:cNvPr>
          <p:cNvSpPr txBox="1"/>
          <p:nvPr/>
        </p:nvSpPr>
        <p:spPr>
          <a:xfrm>
            <a:off x="324393" y="6979971"/>
            <a:ext cx="2460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Functional Requirements:</a:t>
            </a:r>
          </a:p>
        </p:txBody>
      </p:sp>
      <p:sp>
        <p:nvSpPr>
          <p:cNvPr id="15" name="TextBox 14">
            <a:extLst>
              <a:ext uri="{FF2B5EF4-FFF2-40B4-BE49-F238E27FC236}">
                <a16:creationId xmlns:a16="http://schemas.microsoft.com/office/drawing/2014/main" id="{B9343E57-02FB-E431-7C9E-23727205BE87}"/>
              </a:ext>
            </a:extLst>
          </p:cNvPr>
          <p:cNvSpPr txBox="1"/>
          <p:nvPr/>
        </p:nvSpPr>
        <p:spPr>
          <a:xfrm>
            <a:off x="7219759" y="7086889"/>
            <a:ext cx="246017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rPr>
              <a:t>Non-Functional Requirements:</a:t>
            </a:r>
          </a:p>
        </p:txBody>
      </p:sp>
      <p:sp>
        <p:nvSpPr>
          <p:cNvPr id="18" name="TextBox 17">
            <a:extLst>
              <a:ext uri="{FF2B5EF4-FFF2-40B4-BE49-F238E27FC236}">
                <a16:creationId xmlns:a16="http://schemas.microsoft.com/office/drawing/2014/main" id="{C2994501-9C27-31EB-7A2F-5D42067CB52F}"/>
              </a:ext>
            </a:extLst>
          </p:cNvPr>
          <p:cNvSpPr txBox="1"/>
          <p:nvPr/>
        </p:nvSpPr>
        <p:spPr>
          <a:xfrm>
            <a:off x="476793" y="7610109"/>
            <a:ext cx="3094526"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The </a:t>
            </a:r>
            <a:r>
              <a:rPr lang="en-GB" b="1" dirty="0"/>
              <a:t>Pro Tracker app</a:t>
            </a:r>
            <a:r>
              <a:rPr lang="en-GB" dirty="0"/>
              <a:t> offers robust functionality for vehicle security and management, beginning with secure user authentication, including two-factor authentication, to safeguard user accounts. </a:t>
            </a:r>
          </a:p>
          <a:p>
            <a:endParaRPr lang="en-GB" b="1" dirty="0"/>
          </a:p>
          <a:p>
            <a:r>
              <a:rPr lang="en-GB" b="1" dirty="0"/>
              <a:t>Real-time</a:t>
            </a:r>
            <a:r>
              <a:rPr lang="en-GB" dirty="0"/>
              <a:t> vehicle tracking feature displays live GPS locations on an interactive map.</a:t>
            </a:r>
            <a:endParaRPr lang="en-US" dirty="0"/>
          </a:p>
        </p:txBody>
      </p:sp>
      <p:graphicFrame>
        <p:nvGraphicFramePr>
          <p:cNvPr id="22" name="Table 21">
            <a:extLst>
              <a:ext uri="{FF2B5EF4-FFF2-40B4-BE49-F238E27FC236}">
                <a16:creationId xmlns:a16="http://schemas.microsoft.com/office/drawing/2014/main" id="{DC397767-4EA0-F6B7-A60B-8BA64AEB4719}"/>
              </a:ext>
            </a:extLst>
          </p:cNvPr>
          <p:cNvGraphicFramePr>
            <a:graphicFrameLocks noGrp="1"/>
          </p:cNvGraphicFramePr>
          <p:nvPr>
            <p:extLst>
              <p:ext uri="{D42A27DB-BD31-4B8C-83A1-F6EECF244321}">
                <p14:modId xmlns:p14="http://schemas.microsoft.com/office/powerpoint/2010/main" val="2111739174"/>
              </p:ext>
            </p:extLst>
          </p:nvPr>
        </p:nvGraphicFramePr>
        <p:xfrm>
          <a:off x="455391" y="1701602"/>
          <a:ext cx="11684889" cy="5437893"/>
        </p:xfrm>
        <a:graphic>
          <a:graphicData uri="http://schemas.openxmlformats.org/drawingml/2006/table">
            <a:tbl>
              <a:tblPr firstRow="1" bandRow="1">
                <a:tableStyleId>{93296810-A885-4BE3-A3E7-6D5BEEA58F35}</a:tableStyleId>
              </a:tblPr>
              <a:tblGrid>
                <a:gridCol w="3894963">
                  <a:extLst>
                    <a:ext uri="{9D8B030D-6E8A-4147-A177-3AD203B41FA5}">
                      <a16:colId xmlns:a16="http://schemas.microsoft.com/office/drawing/2014/main" val="1688798857"/>
                    </a:ext>
                  </a:extLst>
                </a:gridCol>
                <a:gridCol w="3894963">
                  <a:extLst>
                    <a:ext uri="{9D8B030D-6E8A-4147-A177-3AD203B41FA5}">
                      <a16:colId xmlns:a16="http://schemas.microsoft.com/office/drawing/2014/main" val="2789624132"/>
                    </a:ext>
                  </a:extLst>
                </a:gridCol>
                <a:gridCol w="3894963">
                  <a:extLst>
                    <a:ext uri="{9D8B030D-6E8A-4147-A177-3AD203B41FA5}">
                      <a16:colId xmlns:a16="http://schemas.microsoft.com/office/drawing/2014/main" val="2812719424"/>
                    </a:ext>
                  </a:extLst>
                </a:gridCol>
              </a:tblGrid>
              <a:tr h="441031">
                <a:tc>
                  <a:txBody>
                    <a:bodyPr/>
                    <a:lstStyle/>
                    <a:p>
                      <a:r>
                        <a:rPr lang="en-US" b="1" dirty="0"/>
                        <a:t>Project Phase</a:t>
                      </a:r>
                      <a:endParaRPr lang="en-US" dirty="0"/>
                    </a:p>
                  </a:txBody>
                  <a:tcPr anchor="ctr"/>
                </a:tc>
                <a:tc>
                  <a:txBody>
                    <a:bodyPr/>
                    <a:lstStyle/>
                    <a:p>
                      <a:r>
                        <a:rPr lang="en-US" b="1"/>
                        <a:t>Budget (R)</a:t>
                      </a:r>
                      <a:endParaRPr lang="en-US"/>
                    </a:p>
                  </a:txBody>
                  <a:tcPr anchor="ctr"/>
                </a:tc>
                <a:tc>
                  <a:txBody>
                    <a:bodyPr/>
                    <a:lstStyle/>
                    <a:p>
                      <a:r>
                        <a:rPr lang="en-US" b="1" dirty="0"/>
                        <a:t>Description</a:t>
                      </a:r>
                      <a:endParaRPr lang="en-US" dirty="0"/>
                    </a:p>
                  </a:txBody>
                  <a:tcPr anchor="ctr"/>
                </a:tc>
                <a:extLst>
                  <a:ext uri="{0D108BD9-81ED-4DB2-BD59-A6C34878D82A}">
                    <a16:rowId xmlns:a16="http://schemas.microsoft.com/office/drawing/2014/main" val="1535617614"/>
                  </a:ext>
                </a:extLst>
              </a:tr>
              <a:tr h="580317">
                <a:tc>
                  <a:txBody>
                    <a:bodyPr/>
                    <a:lstStyle/>
                    <a:p>
                      <a:r>
                        <a:rPr lang="en-US" dirty="0"/>
                        <a:t>Requirements Gathering</a:t>
                      </a:r>
                    </a:p>
                  </a:txBody>
                  <a:tcPr/>
                </a:tc>
                <a:tc>
                  <a:txBody>
                    <a:bodyPr/>
                    <a:lstStyle/>
                    <a:p>
                      <a:r>
                        <a:rPr lang="en-US" dirty="0"/>
                        <a:t>1,000</a:t>
                      </a:r>
                    </a:p>
                  </a:txBody>
                  <a:tcPr/>
                </a:tc>
                <a:tc>
                  <a:txBody>
                    <a:bodyPr/>
                    <a:lstStyle/>
                    <a:p>
                      <a:r>
                        <a:rPr lang="en-GB" dirty="0"/>
                        <a:t>Research, stakeholder meetings, requirements documentation.</a:t>
                      </a:r>
                      <a:endParaRPr lang="en-US" dirty="0"/>
                    </a:p>
                  </a:txBody>
                  <a:tcPr/>
                </a:tc>
                <a:extLst>
                  <a:ext uri="{0D108BD9-81ED-4DB2-BD59-A6C34878D82A}">
                    <a16:rowId xmlns:a16="http://schemas.microsoft.com/office/drawing/2014/main" val="316888409"/>
                  </a:ext>
                </a:extLst>
              </a:tr>
              <a:tr h="580317">
                <a:tc>
                  <a:txBody>
                    <a:bodyPr/>
                    <a:lstStyle/>
                    <a:p>
                      <a:r>
                        <a:rPr lang="en-US" dirty="0"/>
                        <a:t>UI/UX Design</a:t>
                      </a:r>
                    </a:p>
                  </a:txBody>
                  <a:tcPr/>
                </a:tc>
                <a:tc>
                  <a:txBody>
                    <a:bodyPr/>
                    <a:lstStyle/>
                    <a:p>
                      <a:r>
                        <a:rPr lang="en-US" dirty="0"/>
                        <a:t>2,000</a:t>
                      </a:r>
                    </a:p>
                  </a:txBody>
                  <a:tcPr/>
                </a:tc>
                <a:tc>
                  <a:txBody>
                    <a:bodyPr/>
                    <a:lstStyle/>
                    <a:p>
                      <a:r>
                        <a:rPr lang="en-GB" dirty="0"/>
                        <a:t>Wireframes, mock-ups, and usability testing for user interface design.</a:t>
                      </a:r>
                      <a:endParaRPr lang="en-US" dirty="0"/>
                    </a:p>
                  </a:txBody>
                  <a:tcPr/>
                </a:tc>
                <a:extLst>
                  <a:ext uri="{0D108BD9-81ED-4DB2-BD59-A6C34878D82A}">
                    <a16:rowId xmlns:a16="http://schemas.microsoft.com/office/drawing/2014/main" val="739279087"/>
                  </a:ext>
                </a:extLst>
              </a:tr>
              <a:tr h="829025">
                <a:tc>
                  <a:txBody>
                    <a:bodyPr/>
                    <a:lstStyle/>
                    <a:p>
                      <a:r>
                        <a:rPr lang="en-US" dirty="0"/>
                        <a:t>Backend Development</a:t>
                      </a:r>
                    </a:p>
                  </a:txBody>
                  <a:tcPr/>
                </a:tc>
                <a:tc>
                  <a:txBody>
                    <a:bodyPr/>
                    <a:lstStyle/>
                    <a:p>
                      <a:r>
                        <a:rPr lang="en-US" dirty="0"/>
                        <a:t>3,000</a:t>
                      </a:r>
                    </a:p>
                  </a:txBody>
                  <a:tcPr/>
                </a:tc>
                <a:tc>
                  <a:txBody>
                    <a:bodyPr/>
                    <a:lstStyle/>
                    <a:p>
                      <a:r>
                        <a:rPr lang="en-GB" dirty="0"/>
                        <a:t>Database setup, server logic, API development, and integration with tracking hardware.</a:t>
                      </a:r>
                      <a:endParaRPr lang="en-US" dirty="0"/>
                    </a:p>
                  </a:txBody>
                  <a:tcPr/>
                </a:tc>
                <a:extLst>
                  <a:ext uri="{0D108BD9-81ED-4DB2-BD59-A6C34878D82A}">
                    <a16:rowId xmlns:a16="http://schemas.microsoft.com/office/drawing/2014/main" val="3501732199"/>
                  </a:ext>
                </a:extLst>
              </a:tr>
              <a:tr h="580317">
                <a:tc>
                  <a:txBody>
                    <a:bodyPr/>
                    <a:lstStyle/>
                    <a:p>
                      <a:r>
                        <a:rPr lang="en-US" dirty="0"/>
                        <a:t>Frontend Development</a:t>
                      </a:r>
                    </a:p>
                  </a:txBody>
                  <a:tcPr/>
                </a:tc>
                <a:tc>
                  <a:txBody>
                    <a:bodyPr/>
                    <a:lstStyle/>
                    <a:p>
                      <a:r>
                        <a:rPr lang="en-US" dirty="0"/>
                        <a:t>2,500</a:t>
                      </a:r>
                    </a:p>
                  </a:txBody>
                  <a:tcPr/>
                </a:tc>
                <a:tc>
                  <a:txBody>
                    <a:bodyPr/>
                    <a:lstStyle/>
                    <a:p>
                      <a:r>
                        <a:rPr lang="en-GB" dirty="0"/>
                        <a:t>Building the user interface and integrating with backend systems.</a:t>
                      </a:r>
                      <a:endParaRPr lang="en-US" dirty="0"/>
                    </a:p>
                  </a:txBody>
                  <a:tcPr/>
                </a:tc>
                <a:extLst>
                  <a:ext uri="{0D108BD9-81ED-4DB2-BD59-A6C34878D82A}">
                    <a16:rowId xmlns:a16="http://schemas.microsoft.com/office/drawing/2014/main" val="3590555422"/>
                  </a:ext>
                </a:extLst>
              </a:tr>
              <a:tr h="580317">
                <a:tc>
                  <a:txBody>
                    <a:bodyPr/>
                    <a:lstStyle/>
                    <a:p>
                      <a:r>
                        <a:rPr lang="en-US" dirty="0"/>
                        <a:t>Testing &amp; Quality Assurance</a:t>
                      </a:r>
                    </a:p>
                  </a:txBody>
                  <a:tcPr/>
                </a:tc>
                <a:tc>
                  <a:txBody>
                    <a:bodyPr/>
                    <a:lstStyle/>
                    <a:p>
                      <a:r>
                        <a:rPr lang="en-US" dirty="0"/>
                        <a:t>1,500</a:t>
                      </a:r>
                    </a:p>
                  </a:txBody>
                  <a:tcPr/>
                </a:tc>
                <a:tc>
                  <a:txBody>
                    <a:bodyPr/>
                    <a:lstStyle/>
                    <a:p>
                      <a:r>
                        <a:rPr lang="en-GB" dirty="0"/>
                        <a:t>Functional testing, usability testing, bug tracking, and quality assurance.</a:t>
                      </a:r>
                      <a:endParaRPr lang="en-US" dirty="0"/>
                    </a:p>
                  </a:txBody>
                  <a:tcPr/>
                </a:tc>
                <a:extLst>
                  <a:ext uri="{0D108BD9-81ED-4DB2-BD59-A6C34878D82A}">
                    <a16:rowId xmlns:a16="http://schemas.microsoft.com/office/drawing/2014/main" val="3543473462"/>
                  </a:ext>
                </a:extLst>
              </a:tr>
              <a:tr h="580317">
                <a:tc>
                  <a:txBody>
                    <a:bodyPr/>
                    <a:lstStyle/>
                    <a:p>
                      <a:r>
                        <a:rPr lang="en-US" dirty="0"/>
                        <a:t>Deployment &amp; Launch</a:t>
                      </a:r>
                    </a:p>
                  </a:txBody>
                  <a:tcPr/>
                </a:tc>
                <a:tc>
                  <a:txBody>
                    <a:bodyPr/>
                    <a:lstStyle/>
                    <a:p>
                      <a:r>
                        <a:rPr lang="en-US" dirty="0"/>
                        <a:t>1,000</a:t>
                      </a:r>
                    </a:p>
                  </a:txBody>
                  <a:tcPr/>
                </a:tc>
                <a:tc>
                  <a:txBody>
                    <a:bodyPr/>
                    <a:lstStyle/>
                    <a:p>
                      <a:r>
                        <a:rPr lang="en-GB" dirty="0"/>
                        <a:t>Finalizing deployment to app stores, web hosting, and server setup.</a:t>
                      </a:r>
                      <a:endParaRPr lang="en-US" dirty="0"/>
                    </a:p>
                  </a:txBody>
                  <a:tcPr/>
                </a:tc>
                <a:extLst>
                  <a:ext uri="{0D108BD9-81ED-4DB2-BD59-A6C34878D82A}">
                    <a16:rowId xmlns:a16="http://schemas.microsoft.com/office/drawing/2014/main" val="400705387"/>
                  </a:ext>
                </a:extLst>
              </a:tr>
              <a:tr h="441031">
                <a:tc>
                  <a:txBody>
                    <a:bodyPr/>
                    <a:lstStyle/>
                    <a:p>
                      <a:r>
                        <a:rPr lang="en-GB" dirty="0"/>
                        <a:t>Total</a:t>
                      </a:r>
                      <a:endParaRPr lang="en-US" dirty="0"/>
                    </a:p>
                  </a:txBody>
                  <a:tcPr/>
                </a:tc>
                <a:tc>
                  <a:txBody>
                    <a:bodyPr/>
                    <a:lstStyle/>
                    <a:p>
                      <a:r>
                        <a:rPr lang="en-GB" dirty="0"/>
                        <a:t>11,000</a:t>
                      </a:r>
                      <a:endParaRPr lang="en-US" dirty="0"/>
                    </a:p>
                  </a:txBody>
                  <a:tcPr/>
                </a:tc>
                <a:tc>
                  <a:txBody>
                    <a:bodyPr/>
                    <a:lstStyle/>
                    <a:p>
                      <a:endParaRPr lang="en-US" dirty="0"/>
                    </a:p>
                  </a:txBody>
                  <a:tcPr/>
                </a:tc>
                <a:extLst>
                  <a:ext uri="{0D108BD9-81ED-4DB2-BD59-A6C34878D82A}">
                    <a16:rowId xmlns:a16="http://schemas.microsoft.com/office/drawing/2014/main" val="4199962301"/>
                  </a:ext>
                </a:extLst>
              </a:tr>
              <a:tr h="441031">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131454884"/>
                  </a:ext>
                </a:extLst>
              </a:tr>
            </a:tbl>
          </a:graphicData>
        </a:graphic>
      </p:graphicFrame>
      <p:sp>
        <p:nvSpPr>
          <p:cNvPr id="23" name="TextBox 22">
            <a:extLst>
              <a:ext uri="{FF2B5EF4-FFF2-40B4-BE49-F238E27FC236}">
                <a16:creationId xmlns:a16="http://schemas.microsoft.com/office/drawing/2014/main" id="{B6271779-3C3C-A806-E0B8-B43FE5266AD6}"/>
              </a:ext>
            </a:extLst>
          </p:cNvPr>
          <p:cNvSpPr txBox="1"/>
          <p:nvPr/>
        </p:nvSpPr>
        <p:spPr>
          <a:xfrm>
            <a:off x="-2835215" y="759311"/>
            <a:ext cx="3010767"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0D0D0D"/>
                </a:solidFill>
                <a:latin typeface="Consolas"/>
              </a:rPr>
              <a:t>Requirements</a:t>
            </a:r>
          </a:p>
        </p:txBody>
      </p:sp>
    </p:spTree>
    <p:extLst>
      <p:ext uri="{BB962C8B-B14F-4D97-AF65-F5344CB8AC3E}">
        <p14:creationId xmlns:p14="http://schemas.microsoft.com/office/powerpoint/2010/main" val="231243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26B710-FA16-6274-E907-1BDC6D81AA29}"/>
              </a:ext>
            </a:extLst>
          </p:cNvPr>
          <p:cNvSpPr/>
          <p:nvPr/>
        </p:nvSpPr>
        <p:spPr>
          <a:xfrm>
            <a:off x="6415" y="0"/>
            <a:ext cx="12182568" cy="68580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4">
            <a:extLst>
              <a:ext uri="{FF2B5EF4-FFF2-40B4-BE49-F238E27FC236}">
                <a16:creationId xmlns:a16="http://schemas.microsoft.com/office/drawing/2014/main" id="{F16011F0-9488-DD42-CA92-74DED956A340}"/>
              </a:ext>
            </a:extLst>
          </p:cNvPr>
          <p:cNvSpPr txBox="1"/>
          <p:nvPr/>
        </p:nvSpPr>
        <p:spPr>
          <a:xfrm>
            <a:off x="508994" y="371847"/>
            <a:ext cx="2519155" cy="52322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chemeClr val="accent3">
                    <a:lumMod val="60000"/>
                    <a:lumOff val="40000"/>
                  </a:schemeClr>
                </a:solidFill>
                <a:latin typeface="Consolas"/>
              </a:rPr>
              <a:t>CAMS</a:t>
            </a:r>
          </a:p>
        </p:txBody>
      </p:sp>
      <p:sp>
        <p:nvSpPr>
          <p:cNvPr id="8" name="TextBox 7">
            <a:extLst>
              <a:ext uri="{FF2B5EF4-FFF2-40B4-BE49-F238E27FC236}">
                <a16:creationId xmlns:a16="http://schemas.microsoft.com/office/drawing/2014/main" id="{14FC2245-E4BF-5A2B-7AD3-7AEAE94BAA2E}"/>
              </a:ext>
            </a:extLst>
          </p:cNvPr>
          <p:cNvSpPr txBox="1"/>
          <p:nvPr/>
        </p:nvSpPr>
        <p:spPr>
          <a:xfrm>
            <a:off x="1321608" y="252161"/>
            <a:ext cx="26562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solidFill>
                  <a:schemeClr val="accent3">
                    <a:lumMod val="60000"/>
                    <a:lumOff val="40000"/>
                  </a:schemeClr>
                </a:solidFill>
                <a:ea typeface="+mn-lt"/>
                <a:cs typeface="+mn-lt"/>
              </a:rPr>
              <a:t>®</a:t>
            </a:r>
            <a:endParaRPr lang="en-US" sz="2800" dirty="0">
              <a:solidFill>
                <a:schemeClr val="accent3">
                  <a:lumMod val="60000"/>
                  <a:lumOff val="40000"/>
                </a:schemeClr>
              </a:solidFill>
            </a:endParaRPr>
          </a:p>
        </p:txBody>
      </p:sp>
    </p:spTree>
    <p:extLst>
      <p:ext uri="{BB962C8B-B14F-4D97-AF65-F5344CB8AC3E}">
        <p14:creationId xmlns:p14="http://schemas.microsoft.com/office/powerpoint/2010/main" val="1292824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667</TotalTime>
  <Words>1074</Words>
  <Application>Microsoft Office PowerPoint</Application>
  <PresentationFormat>Widescreen</PresentationFormat>
  <Paragraphs>221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Aparajita</vt: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Promise Monama</dc:creator>
  <cp:lastModifiedBy>Tshepiso Promise Monama</cp:lastModifiedBy>
  <cp:revision>586</cp:revision>
  <dcterms:created xsi:type="dcterms:W3CDTF">2024-11-06T19:11:02Z</dcterms:created>
  <dcterms:modified xsi:type="dcterms:W3CDTF">2024-11-11T03:19:38Z</dcterms:modified>
</cp:coreProperties>
</file>